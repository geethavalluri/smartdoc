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0" r:id="rId1"/>
  </p:sldMasterIdLst>
  <p:sldIdLst>
    <p:sldId id="278" r:id="rId2"/>
    <p:sldId id="279" r:id="rId3"/>
    <p:sldId id="257" r:id="rId4"/>
    <p:sldId id="260" r:id="rId5"/>
    <p:sldId id="339" r:id="rId6"/>
    <p:sldId id="261" r:id="rId7"/>
    <p:sldId id="306" r:id="rId8"/>
    <p:sldId id="340" r:id="rId9"/>
    <p:sldId id="262" r:id="rId10"/>
    <p:sldId id="266" r:id="rId11"/>
    <p:sldId id="316" r:id="rId12"/>
    <p:sldId id="319" r:id="rId13"/>
    <p:sldId id="320" r:id="rId14"/>
    <p:sldId id="321" r:id="rId15"/>
    <p:sldId id="324" r:id="rId16"/>
    <p:sldId id="325" r:id="rId17"/>
    <p:sldId id="326" r:id="rId18"/>
    <p:sldId id="327" r:id="rId19"/>
    <p:sldId id="307" r:id="rId20"/>
    <p:sldId id="309" r:id="rId21"/>
    <p:sldId id="310" r:id="rId22"/>
    <p:sldId id="311" r:id="rId23"/>
    <p:sldId id="312" r:id="rId24"/>
    <p:sldId id="313" r:id="rId25"/>
    <p:sldId id="328" r:id="rId26"/>
    <p:sldId id="308" r:id="rId27"/>
    <p:sldId id="329" r:id="rId28"/>
    <p:sldId id="330" r:id="rId29"/>
    <p:sldId id="332" r:id="rId30"/>
    <p:sldId id="333" r:id="rId31"/>
    <p:sldId id="334" r:id="rId32"/>
    <p:sldId id="337" r:id="rId33"/>
    <p:sldId id="338" r:id="rId34"/>
    <p:sldId id="28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43A863-31E3-2E40-93C2-D096BF74F537}" v="2" dt="2026-04-10T05:53:19.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51" autoAdjust="0"/>
    <p:restoredTop sz="94698"/>
  </p:normalViewPr>
  <p:slideViewPr>
    <p:cSldViewPr snapToGrid="0">
      <p:cViewPr varScale="1">
        <p:scale>
          <a:sx n="78" d="100"/>
          <a:sy n="78" d="100"/>
        </p:scale>
        <p:origin x="19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u Alajangi" userId="0af5de0a-9687-43eb-87e1-9015e944b735" providerId="ADAL" clId="{0B48877B-854C-5858-9F65-0F555EC4B5B4}"/>
    <pc:docChg chg="undo custSel mod modSld">
      <pc:chgData name="Chandu Alajangi" userId="0af5de0a-9687-43eb-87e1-9015e944b735" providerId="ADAL" clId="{0B48877B-854C-5858-9F65-0F555EC4B5B4}" dt="2026-04-10T05:58:47.820" v="129" actId="33475"/>
      <pc:docMkLst>
        <pc:docMk/>
      </pc:docMkLst>
      <pc:sldChg chg="modSp mod">
        <pc:chgData name="Chandu Alajangi" userId="0af5de0a-9687-43eb-87e1-9015e944b735" providerId="ADAL" clId="{0B48877B-854C-5858-9F65-0F555EC4B5B4}" dt="2026-04-10T05:33:50.416" v="87" actId="123"/>
        <pc:sldMkLst>
          <pc:docMk/>
          <pc:sldMk cId="1061638503" sldId="260"/>
        </pc:sldMkLst>
        <pc:spChg chg="mod">
          <ac:chgData name="Chandu Alajangi" userId="0af5de0a-9687-43eb-87e1-9015e944b735" providerId="ADAL" clId="{0B48877B-854C-5858-9F65-0F555EC4B5B4}" dt="2026-04-10T05:23:34.785" v="30" actId="2711"/>
          <ac:spMkLst>
            <pc:docMk/>
            <pc:sldMk cId="1061638503" sldId="260"/>
            <ac:spMk id="2" creationId="{94D40E4D-EC74-C992-83C9-3548C7D83492}"/>
          </ac:spMkLst>
        </pc:spChg>
        <pc:spChg chg="mod">
          <ac:chgData name="Chandu Alajangi" userId="0af5de0a-9687-43eb-87e1-9015e944b735" providerId="ADAL" clId="{0B48877B-854C-5858-9F65-0F555EC4B5B4}" dt="2026-04-10T05:33:50.416" v="87" actId="123"/>
          <ac:spMkLst>
            <pc:docMk/>
            <pc:sldMk cId="1061638503" sldId="260"/>
            <ac:spMk id="3" creationId="{C61BF847-814A-6C2B-2681-E267A6E89A10}"/>
          </ac:spMkLst>
        </pc:spChg>
      </pc:sldChg>
      <pc:sldChg chg="modSp mod">
        <pc:chgData name="Chandu Alajangi" userId="0af5de0a-9687-43eb-87e1-9015e944b735" providerId="ADAL" clId="{0B48877B-854C-5858-9F65-0F555EC4B5B4}" dt="2026-04-10T05:34:49.371" v="100" actId="20577"/>
        <pc:sldMkLst>
          <pc:docMk/>
          <pc:sldMk cId="2550501636" sldId="261"/>
        </pc:sldMkLst>
        <pc:spChg chg="mod">
          <ac:chgData name="Chandu Alajangi" userId="0af5de0a-9687-43eb-87e1-9015e944b735" providerId="ADAL" clId="{0B48877B-854C-5858-9F65-0F555EC4B5B4}" dt="2026-04-10T05:34:49.371" v="100" actId="20577"/>
          <ac:spMkLst>
            <pc:docMk/>
            <pc:sldMk cId="2550501636" sldId="261"/>
            <ac:spMk id="6" creationId="{44E411EC-D53E-89E5-765C-D2CB70CDA61A}"/>
          </ac:spMkLst>
        </pc:spChg>
      </pc:sldChg>
      <pc:sldChg chg="modSp mod">
        <pc:chgData name="Chandu Alajangi" userId="0af5de0a-9687-43eb-87e1-9015e944b735" providerId="ADAL" clId="{0B48877B-854C-5858-9F65-0F555EC4B5B4}" dt="2026-04-10T05:35:18.643" v="103" actId="123"/>
        <pc:sldMkLst>
          <pc:docMk/>
          <pc:sldMk cId="3101283987" sldId="262"/>
        </pc:sldMkLst>
        <pc:spChg chg="mod">
          <ac:chgData name="Chandu Alajangi" userId="0af5de0a-9687-43eb-87e1-9015e944b735" providerId="ADAL" clId="{0B48877B-854C-5858-9F65-0F555EC4B5B4}" dt="2026-04-10T05:35:18.643" v="103" actId="123"/>
          <ac:spMkLst>
            <pc:docMk/>
            <pc:sldMk cId="3101283987" sldId="262"/>
            <ac:spMk id="3" creationId="{BF369D36-CF53-A692-66F0-583AE9D0A1FE}"/>
          </ac:spMkLst>
        </pc:spChg>
      </pc:sldChg>
      <pc:sldChg chg="modSp mod">
        <pc:chgData name="Chandu Alajangi" userId="0af5de0a-9687-43eb-87e1-9015e944b735" providerId="ADAL" clId="{0B48877B-854C-5858-9F65-0F555EC4B5B4}" dt="2026-04-10T05:35:36.150" v="107" actId="123"/>
        <pc:sldMkLst>
          <pc:docMk/>
          <pc:sldMk cId="3525646941" sldId="266"/>
        </pc:sldMkLst>
        <pc:spChg chg="mod">
          <ac:chgData name="Chandu Alajangi" userId="0af5de0a-9687-43eb-87e1-9015e944b735" providerId="ADAL" clId="{0B48877B-854C-5858-9F65-0F555EC4B5B4}" dt="2026-04-10T05:35:36.150" v="107" actId="123"/>
          <ac:spMkLst>
            <pc:docMk/>
            <pc:sldMk cId="3525646941" sldId="266"/>
            <ac:spMk id="3" creationId="{66094A81-90CC-AC03-BE86-A3605C7802A7}"/>
          </ac:spMkLst>
        </pc:spChg>
      </pc:sldChg>
      <pc:sldChg chg="modSp mod">
        <pc:chgData name="Chandu Alajangi" userId="0af5de0a-9687-43eb-87e1-9015e944b735" providerId="ADAL" clId="{0B48877B-854C-5858-9F65-0F555EC4B5B4}" dt="2026-04-10T05:21:30.667" v="24" actId="20577"/>
        <pc:sldMkLst>
          <pc:docMk/>
          <pc:sldMk cId="257489517" sldId="278"/>
        </pc:sldMkLst>
        <pc:spChg chg="mod">
          <ac:chgData name="Chandu Alajangi" userId="0af5de0a-9687-43eb-87e1-9015e944b735" providerId="ADAL" clId="{0B48877B-854C-5858-9F65-0F555EC4B5B4}" dt="2026-04-10T05:21:30.667" v="24" actId="20577"/>
          <ac:spMkLst>
            <pc:docMk/>
            <pc:sldMk cId="257489517" sldId="278"/>
            <ac:spMk id="6" creationId="{00000000-0000-0000-0000-000000000000}"/>
          </ac:spMkLst>
        </pc:spChg>
      </pc:sldChg>
      <pc:sldChg chg="modSp mod">
        <pc:chgData name="Chandu Alajangi" userId="0af5de0a-9687-43eb-87e1-9015e944b735" providerId="ADAL" clId="{0B48877B-854C-5858-9F65-0F555EC4B5B4}" dt="2026-04-10T05:22:36.214" v="26" actId="255"/>
        <pc:sldMkLst>
          <pc:docMk/>
          <pc:sldMk cId="2283022296" sldId="279"/>
        </pc:sldMkLst>
        <pc:spChg chg="mod">
          <ac:chgData name="Chandu Alajangi" userId="0af5de0a-9687-43eb-87e1-9015e944b735" providerId="ADAL" clId="{0B48877B-854C-5858-9F65-0F555EC4B5B4}" dt="2026-04-10T05:22:36.214" v="26" actId="255"/>
          <ac:spMkLst>
            <pc:docMk/>
            <pc:sldMk cId="2283022296" sldId="279"/>
            <ac:spMk id="3" creationId="{00000000-0000-0000-0000-000000000000}"/>
          </ac:spMkLst>
        </pc:spChg>
      </pc:sldChg>
      <pc:sldChg chg="modSp mod">
        <pc:chgData name="Chandu Alajangi" userId="0af5de0a-9687-43eb-87e1-9015e944b735" providerId="ADAL" clId="{0B48877B-854C-5858-9F65-0F555EC4B5B4}" dt="2026-04-10T05:35:07.194" v="101" actId="123"/>
        <pc:sldMkLst>
          <pc:docMk/>
          <pc:sldMk cId="2070691424" sldId="306"/>
        </pc:sldMkLst>
        <pc:spChg chg="mod">
          <ac:chgData name="Chandu Alajangi" userId="0af5de0a-9687-43eb-87e1-9015e944b735" providerId="ADAL" clId="{0B48877B-854C-5858-9F65-0F555EC4B5B4}" dt="2026-04-10T05:35:07.194" v="101" actId="123"/>
          <ac:spMkLst>
            <pc:docMk/>
            <pc:sldMk cId="2070691424" sldId="306"/>
            <ac:spMk id="3" creationId="{00000000-0000-0000-0000-000000000000}"/>
          </ac:spMkLst>
        </pc:spChg>
      </pc:sldChg>
      <pc:sldChg chg="modSp mod">
        <pc:chgData name="Chandu Alajangi" userId="0af5de0a-9687-43eb-87e1-9015e944b735" providerId="ADAL" clId="{0B48877B-854C-5858-9F65-0F555EC4B5B4}" dt="2026-04-10T05:30:04.692" v="55" actId="2711"/>
        <pc:sldMkLst>
          <pc:docMk/>
          <pc:sldMk cId="3542729444" sldId="308"/>
        </pc:sldMkLst>
        <pc:spChg chg="mod">
          <ac:chgData name="Chandu Alajangi" userId="0af5de0a-9687-43eb-87e1-9015e944b735" providerId="ADAL" clId="{0B48877B-854C-5858-9F65-0F555EC4B5B4}" dt="2026-04-10T05:29:55.641" v="54" actId="255"/>
          <ac:spMkLst>
            <pc:docMk/>
            <pc:sldMk cId="3542729444" sldId="308"/>
            <ac:spMk id="2" creationId="{B41C50FB-AB99-4076-1606-853C46BA73C6}"/>
          </ac:spMkLst>
        </pc:spChg>
        <pc:spChg chg="mod">
          <ac:chgData name="Chandu Alajangi" userId="0af5de0a-9687-43eb-87e1-9015e944b735" providerId="ADAL" clId="{0B48877B-854C-5858-9F65-0F555EC4B5B4}" dt="2026-04-10T05:30:04.692" v="55" actId="2711"/>
          <ac:spMkLst>
            <pc:docMk/>
            <pc:sldMk cId="3542729444" sldId="308"/>
            <ac:spMk id="3" creationId="{D452C32E-E6E3-E3D3-FDAC-B2F9453DE579}"/>
          </ac:spMkLst>
        </pc:spChg>
      </pc:sldChg>
      <pc:sldChg chg="modSp mod">
        <pc:chgData name="Chandu Alajangi" userId="0af5de0a-9687-43eb-87e1-9015e944b735" providerId="ADAL" clId="{0B48877B-854C-5858-9F65-0F555EC4B5B4}" dt="2026-04-10T05:35:57.173" v="111" actId="120"/>
        <pc:sldMkLst>
          <pc:docMk/>
          <pc:sldMk cId="44894236" sldId="316"/>
        </pc:sldMkLst>
        <pc:spChg chg="mod">
          <ac:chgData name="Chandu Alajangi" userId="0af5de0a-9687-43eb-87e1-9015e944b735" providerId="ADAL" clId="{0B48877B-854C-5858-9F65-0F555EC4B5B4}" dt="2026-04-10T05:35:57.173" v="111" actId="120"/>
          <ac:spMkLst>
            <pc:docMk/>
            <pc:sldMk cId="44894236" sldId="316"/>
            <ac:spMk id="4" creationId="{4C733C6D-808D-E6F4-D3EC-281D7CB9DB49}"/>
          </ac:spMkLst>
        </pc:spChg>
      </pc:sldChg>
      <pc:sldChg chg="modSp mod">
        <pc:chgData name="Chandu Alajangi" userId="0af5de0a-9687-43eb-87e1-9015e944b735" providerId="ADAL" clId="{0B48877B-854C-5858-9F65-0F555EC4B5B4}" dt="2026-04-10T05:25:59.685" v="37" actId="255"/>
        <pc:sldMkLst>
          <pc:docMk/>
          <pc:sldMk cId="1912870282" sldId="319"/>
        </pc:sldMkLst>
        <pc:spChg chg="mod">
          <ac:chgData name="Chandu Alajangi" userId="0af5de0a-9687-43eb-87e1-9015e944b735" providerId="ADAL" clId="{0B48877B-854C-5858-9F65-0F555EC4B5B4}" dt="2026-04-10T05:25:59.685" v="37" actId="255"/>
          <ac:spMkLst>
            <pc:docMk/>
            <pc:sldMk cId="1912870282" sldId="319"/>
            <ac:spMk id="3" creationId="{19BB537E-5C42-DC16-4E81-26BAFF786E91}"/>
          </ac:spMkLst>
        </pc:spChg>
      </pc:sldChg>
      <pc:sldChg chg="modSp mod">
        <pc:chgData name="Chandu Alajangi" userId="0af5de0a-9687-43eb-87e1-9015e944b735" providerId="ADAL" clId="{0B48877B-854C-5858-9F65-0F555EC4B5B4}" dt="2026-04-10T05:36:11.307" v="112" actId="123"/>
        <pc:sldMkLst>
          <pc:docMk/>
          <pc:sldMk cId="555275139" sldId="320"/>
        </pc:sldMkLst>
        <pc:spChg chg="mod">
          <ac:chgData name="Chandu Alajangi" userId="0af5de0a-9687-43eb-87e1-9015e944b735" providerId="ADAL" clId="{0B48877B-854C-5858-9F65-0F555EC4B5B4}" dt="2026-04-10T05:36:11.307" v="112" actId="123"/>
          <ac:spMkLst>
            <pc:docMk/>
            <pc:sldMk cId="555275139" sldId="320"/>
            <ac:spMk id="3" creationId="{10972475-F090-48F8-BBEA-18CAA92F4572}"/>
          </ac:spMkLst>
        </pc:spChg>
      </pc:sldChg>
      <pc:sldChg chg="modSp mod">
        <pc:chgData name="Chandu Alajangi" userId="0af5de0a-9687-43eb-87e1-9015e944b735" providerId="ADAL" clId="{0B48877B-854C-5858-9F65-0F555EC4B5B4}" dt="2026-04-10T05:36:21.192" v="113" actId="123"/>
        <pc:sldMkLst>
          <pc:docMk/>
          <pc:sldMk cId="1170589618" sldId="321"/>
        </pc:sldMkLst>
        <pc:spChg chg="mod">
          <ac:chgData name="Chandu Alajangi" userId="0af5de0a-9687-43eb-87e1-9015e944b735" providerId="ADAL" clId="{0B48877B-854C-5858-9F65-0F555EC4B5B4}" dt="2026-04-10T05:36:21.192" v="113" actId="123"/>
          <ac:spMkLst>
            <pc:docMk/>
            <pc:sldMk cId="1170589618" sldId="321"/>
            <ac:spMk id="3" creationId="{E36D6A86-7203-439B-67C4-3CB09CF97F89}"/>
          </ac:spMkLst>
        </pc:spChg>
      </pc:sldChg>
      <pc:sldChg chg="modSp mod">
        <pc:chgData name="Chandu Alajangi" userId="0af5de0a-9687-43eb-87e1-9015e944b735" providerId="ADAL" clId="{0B48877B-854C-5858-9F65-0F555EC4B5B4}" dt="2026-04-10T05:27:20.738" v="41" actId="255"/>
        <pc:sldMkLst>
          <pc:docMk/>
          <pc:sldMk cId="1866332509" sldId="324"/>
        </pc:sldMkLst>
        <pc:spChg chg="mod">
          <ac:chgData name="Chandu Alajangi" userId="0af5de0a-9687-43eb-87e1-9015e944b735" providerId="ADAL" clId="{0B48877B-854C-5858-9F65-0F555EC4B5B4}" dt="2026-04-10T05:27:20.738" v="41" actId="255"/>
          <ac:spMkLst>
            <pc:docMk/>
            <pc:sldMk cId="1866332509" sldId="324"/>
            <ac:spMk id="3" creationId="{0B11181F-2E7D-9D7C-EA8C-2483DF165E96}"/>
          </ac:spMkLst>
        </pc:spChg>
      </pc:sldChg>
      <pc:sldChg chg="modSp mod">
        <pc:chgData name="Chandu Alajangi" userId="0af5de0a-9687-43eb-87e1-9015e944b735" providerId="ADAL" clId="{0B48877B-854C-5858-9F65-0F555EC4B5B4}" dt="2026-04-10T05:27:34.616" v="42" actId="255"/>
        <pc:sldMkLst>
          <pc:docMk/>
          <pc:sldMk cId="491793591" sldId="325"/>
        </pc:sldMkLst>
        <pc:spChg chg="mod">
          <ac:chgData name="Chandu Alajangi" userId="0af5de0a-9687-43eb-87e1-9015e944b735" providerId="ADAL" clId="{0B48877B-854C-5858-9F65-0F555EC4B5B4}" dt="2026-04-10T05:27:34.616" v="42" actId="255"/>
          <ac:spMkLst>
            <pc:docMk/>
            <pc:sldMk cId="491793591" sldId="325"/>
            <ac:spMk id="3" creationId="{1BA2F5A7-4F11-5CAF-80A9-DAE6A32823F9}"/>
          </ac:spMkLst>
        </pc:spChg>
      </pc:sldChg>
      <pc:sldChg chg="modSp mod">
        <pc:chgData name="Chandu Alajangi" userId="0af5de0a-9687-43eb-87e1-9015e944b735" providerId="ADAL" clId="{0B48877B-854C-5858-9F65-0F555EC4B5B4}" dt="2026-04-10T05:36:31.957" v="114" actId="123"/>
        <pc:sldMkLst>
          <pc:docMk/>
          <pc:sldMk cId="1857028621" sldId="326"/>
        </pc:sldMkLst>
        <pc:spChg chg="mod">
          <ac:chgData name="Chandu Alajangi" userId="0af5de0a-9687-43eb-87e1-9015e944b735" providerId="ADAL" clId="{0B48877B-854C-5858-9F65-0F555EC4B5B4}" dt="2026-04-10T05:36:31.957" v="114" actId="123"/>
          <ac:spMkLst>
            <pc:docMk/>
            <pc:sldMk cId="1857028621" sldId="326"/>
            <ac:spMk id="3" creationId="{458053BB-E547-FFB1-BAC2-AB09FEAC848B}"/>
          </ac:spMkLst>
        </pc:spChg>
      </pc:sldChg>
      <pc:sldChg chg="modSp mod">
        <pc:chgData name="Chandu Alajangi" userId="0af5de0a-9687-43eb-87e1-9015e944b735" providerId="ADAL" clId="{0B48877B-854C-5858-9F65-0F555EC4B5B4}" dt="2026-04-10T05:36:41.873" v="115" actId="123"/>
        <pc:sldMkLst>
          <pc:docMk/>
          <pc:sldMk cId="3829297966" sldId="327"/>
        </pc:sldMkLst>
        <pc:spChg chg="mod">
          <ac:chgData name="Chandu Alajangi" userId="0af5de0a-9687-43eb-87e1-9015e944b735" providerId="ADAL" clId="{0B48877B-854C-5858-9F65-0F555EC4B5B4}" dt="2026-04-10T05:36:41.873" v="115" actId="123"/>
          <ac:spMkLst>
            <pc:docMk/>
            <pc:sldMk cId="3829297966" sldId="327"/>
            <ac:spMk id="3" creationId="{DB43C472-C912-6683-020D-1EC47987A785}"/>
          </ac:spMkLst>
        </pc:spChg>
      </pc:sldChg>
      <pc:sldChg chg="modSp mod">
        <pc:chgData name="Chandu Alajangi" userId="0af5de0a-9687-43eb-87e1-9015e944b735" providerId="ADAL" clId="{0B48877B-854C-5858-9F65-0F555EC4B5B4}" dt="2026-04-10T05:36:57.689" v="116" actId="123"/>
        <pc:sldMkLst>
          <pc:docMk/>
          <pc:sldMk cId="3520538393" sldId="328"/>
        </pc:sldMkLst>
        <pc:spChg chg="mod">
          <ac:chgData name="Chandu Alajangi" userId="0af5de0a-9687-43eb-87e1-9015e944b735" providerId="ADAL" clId="{0B48877B-854C-5858-9F65-0F555EC4B5B4}" dt="2026-04-10T05:29:43.118" v="53" actId="113"/>
          <ac:spMkLst>
            <pc:docMk/>
            <pc:sldMk cId="3520538393" sldId="328"/>
            <ac:spMk id="2" creationId="{5A39AD5D-B90A-BD6A-40E5-17A929A4B2FB}"/>
          </ac:spMkLst>
        </pc:spChg>
        <pc:spChg chg="mod">
          <ac:chgData name="Chandu Alajangi" userId="0af5de0a-9687-43eb-87e1-9015e944b735" providerId="ADAL" clId="{0B48877B-854C-5858-9F65-0F555EC4B5B4}" dt="2026-04-10T05:36:57.689" v="116" actId="123"/>
          <ac:spMkLst>
            <pc:docMk/>
            <pc:sldMk cId="3520538393" sldId="328"/>
            <ac:spMk id="3" creationId="{23E5D12A-07A7-857D-DE9C-020D7563363A}"/>
          </ac:spMkLst>
        </pc:spChg>
      </pc:sldChg>
      <pc:sldChg chg="addSp delSp modSp mod">
        <pc:chgData name="Chandu Alajangi" userId="0af5de0a-9687-43eb-87e1-9015e944b735" providerId="ADAL" clId="{0B48877B-854C-5858-9F65-0F555EC4B5B4}" dt="2026-04-10T05:53:28.590" v="127" actId="14100"/>
        <pc:sldMkLst>
          <pc:docMk/>
          <pc:sldMk cId="2416921315" sldId="330"/>
        </pc:sldMkLst>
        <pc:spChg chg="mod">
          <ac:chgData name="Chandu Alajangi" userId="0af5de0a-9687-43eb-87e1-9015e944b735" providerId="ADAL" clId="{0B48877B-854C-5858-9F65-0F555EC4B5B4}" dt="2026-04-10T05:31:14.172" v="71" actId="255"/>
          <ac:spMkLst>
            <pc:docMk/>
            <pc:sldMk cId="2416921315" sldId="330"/>
            <ac:spMk id="6" creationId="{68C3367B-9D87-C2A4-30FD-F37D04DB5FAD}"/>
          </ac:spMkLst>
        </pc:spChg>
        <pc:picChg chg="add del mod">
          <ac:chgData name="Chandu Alajangi" userId="0af5de0a-9687-43eb-87e1-9015e944b735" providerId="ADAL" clId="{0B48877B-854C-5858-9F65-0F555EC4B5B4}" dt="2026-04-10T05:53:16.787" v="122" actId="478"/>
          <ac:picMkLst>
            <pc:docMk/>
            <pc:sldMk cId="2416921315" sldId="330"/>
            <ac:picMk id="2" creationId="{D5615CC5-E907-36E3-83B6-FFD7D9E55496}"/>
          </ac:picMkLst>
        </pc:picChg>
        <pc:picChg chg="add mod">
          <ac:chgData name="Chandu Alajangi" userId="0af5de0a-9687-43eb-87e1-9015e944b735" providerId="ADAL" clId="{0B48877B-854C-5858-9F65-0F555EC4B5B4}" dt="2026-04-10T05:53:28.590" v="127" actId="14100"/>
          <ac:picMkLst>
            <pc:docMk/>
            <pc:sldMk cId="2416921315" sldId="330"/>
            <ac:picMk id="3" creationId="{D8EA3F38-E37B-9447-A99F-77A0A8114AA7}"/>
          </ac:picMkLst>
        </pc:picChg>
        <pc:picChg chg="del">
          <ac:chgData name="Chandu Alajangi" userId="0af5de0a-9687-43eb-87e1-9015e944b735" providerId="ADAL" clId="{0B48877B-854C-5858-9F65-0F555EC4B5B4}" dt="2026-04-10T05:38:29.671" v="120" actId="478"/>
          <ac:picMkLst>
            <pc:docMk/>
            <pc:sldMk cId="2416921315" sldId="330"/>
            <ac:picMk id="5" creationId="{02871FA4-6778-407C-8A4A-DE6CF9B9AEA9}"/>
          </ac:picMkLst>
        </pc:picChg>
      </pc:sldChg>
      <pc:sldChg chg="modSp mod">
        <pc:chgData name="Chandu Alajangi" userId="0af5de0a-9687-43eb-87e1-9015e944b735" providerId="ADAL" clId="{0B48877B-854C-5858-9F65-0F555EC4B5B4}" dt="2026-04-10T05:37:07.704" v="117" actId="123"/>
        <pc:sldMkLst>
          <pc:docMk/>
          <pc:sldMk cId="2578886841" sldId="332"/>
        </pc:sldMkLst>
        <pc:spChg chg="mod">
          <ac:chgData name="Chandu Alajangi" userId="0af5de0a-9687-43eb-87e1-9015e944b735" providerId="ADAL" clId="{0B48877B-854C-5858-9F65-0F555EC4B5B4}" dt="2026-04-10T05:30:58.964" v="69" actId="113"/>
          <ac:spMkLst>
            <pc:docMk/>
            <pc:sldMk cId="2578886841" sldId="332"/>
            <ac:spMk id="2" creationId="{17762122-BDE7-57A4-EA50-E15F8E5C92BE}"/>
          </ac:spMkLst>
        </pc:spChg>
        <pc:spChg chg="mod">
          <ac:chgData name="Chandu Alajangi" userId="0af5de0a-9687-43eb-87e1-9015e944b735" providerId="ADAL" clId="{0B48877B-854C-5858-9F65-0F555EC4B5B4}" dt="2026-04-10T05:37:07.704" v="117" actId="123"/>
          <ac:spMkLst>
            <pc:docMk/>
            <pc:sldMk cId="2578886841" sldId="332"/>
            <ac:spMk id="3" creationId="{DAFE6A08-5051-3749-A42E-A9CC4191F055}"/>
          </ac:spMkLst>
        </pc:spChg>
      </pc:sldChg>
      <pc:sldChg chg="modSp mod">
        <pc:chgData name="Chandu Alajangi" userId="0af5de0a-9687-43eb-87e1-9015e944b735" providerId="ADAL" clId="{0B48877B-854C-5858-9F65-0F555EC4B5B4}" dt="2026-04-10T05:31:43.396" v="76" actId="14100"/>
        <pc:sldMkLst>
          <pc:docMk/>
          <pc:sldMk cId="1220347548" sldId="333"/>
        </pc:sldMkLst>
        <pc:spChg chg="mod">
          <ac:chgData name="Chandu Alajangi" userId="0af5de0a-9687-43eb-87e1-9015e944b735" providerId="ADAL" clId="{0B48877B-854C-5858-9F65-0F555EC4B5B4}" dt="2026-04-10T05:31:33.646" v="73" actId="113"/>
          <ac:spMkLst>
            <pc:docMk/>
            <pc:sldMk cId="1220347548" sldId="333"/>
            <ac:spMk id="8" creationId="{C0D78168-1CFC-B812-C4C8-161EC2773E48}"/>
          </ac:spMkLst>
        </pc:spChg>
        <pc:picChg chg="mod">
          <ac:chgData name="Chandu Alajangi" userId="0af5de0a-9687-43eb-87e1-9015e944b735" providerId="ADAL" clId="{0B48877B-854C-5858-9F65-0F555EC4B5B4}" dt="2026-04-10T05:31:43.396" v="76" actId="14100"/>
          <ac:picMkLst>
            <pc:docMk/>
            <pc:sldMk cId="1220347548" sldId="333"/>
            <ac:picMk id="6" creationId="{B2D90C33-0A18-633D-C2B2-ECB42B84A9A7}"/>
          </ac:picMkLst>
        </pc:picChg>
      </pc:sldChg>
      <pc:sldChg chg="modSp mod">
        <pc:chgData name="Chandu Alajangi" userId="0af5de0a-9687-43eb-87e1-9015e944b735" providerId="ADAL" clId="{0B48877B-854C-5858-9F65-0F555EC4B5B4}" dt="2026-04-10T05:32:00.582" v="78" actId="113"/>
        <pc:sldMkLst>
          <pc:docMk/>
          <pc:sldMk cId="2409278999" sldId="334"/>
        </pc:sldMkLst>
        <pc:spChg chg="mod">
          <ac:chgData name="Chandu Alajangi" userId="0af5de0a-9687-43eb-87e1-9015e944b735" providerId="ADAL" clId="{0B48877B-854C-5858-9F65-0F555EC4B5B4}" dt="2026-04-10T05:32:00.582" v="78" actId="113"/>
          <ac:spMkLst>
            <pc:docMk/>
            <pc:sldMk cId="2409278999" sldId="334"/>
            <ac:spMk id="5" creationId="{CB5BC096-CB19-9AE0-3921-AA32A78CF1D9}"/>
          </ac:spMkLst>
        </pc:spChg>
      </pc:sldChg>
      <pc:sldChg chg="modSp mod">
        <pc:chgData name="Chandu Alajangi" userId="0af5de0a-9687-43eb-87e1-9015e944b735" providerId="ADAL" clId="{0B48877B-854C-5858-9F65-0F555EC4B5B4}" dt="2026-04-10T05:32:19.095" v="80" actId="113"/>
        <pc:sldMkLst>
          <pc:docMk/>
          <pc:sldMk cId="592072438" sldId="335"/>
        </pc:sldMkLst>
        <pc:spChg chg="mod">
          <ac:chgData name="Chandu Alajangi" userId="0af5de0a-9687-43eb-87e1-9015e944b735" providerId="ADAL" clId="{0B48877B-854C-5858-9F65-0F555EC4B5B4}" dt="2026-04-10T05:32:19.095" v="80" actId="113"/>
          <ac:spMkLst>
            <pc:docMk/>
            <pc:sldMk cId="592072438" sldId="335"/>
            <ac:spMk id="2" creationId="{66D9478E-F616-124B-FC00-7671FAB72D2B}"/>
          </ac:spMkLst>
        </pc:spChg>
      </pc:sldChg>
      <pc:sldChg chg="modSp mod">
        <pc:chgData name="Chandu Alajangi" userId="0af5de0a-9687-43eb-87e1-9015e944b735" providerId="ADAL" clId="{0B48877B-854C-5858-9F65-0F555EC4B5B4}" dt="2026-04-10T05:32:35.772" v="82" actId="255"/>
        <pc:sldMkLst>
          <pc:docMk/>
          <pc:sldMk cId="2176131855" sldId="336"/>
        </pc:sldMkLst>
        <pc:spChg chg="mod">
          <ac:chgData name="Chandu Alajangi" userId="0af5de0a-9687-43eb-87e1-9015e944b735" providerId="ADAL" clId="{0B48877B-854C-5858-9F65-0F555EC4B5B4}" dt="2026-04-10T05:32:35.772" v="82" actId="255"/>
          <ac:spMkLst>
            <pc:docMk/>
            <pc:sldMk cId="2176131855" sldId="336"/>
            <ac:spMk id="7" creationId="{9BCBA154-E823-57AB-E8E7-663B6EA97B14}"/>
          </ac:spMkLst>
        </pc:spChg>
      </pc:sldChg>
      <pc:sldChg chg="modSp mod">
        <pc:chgData name="Chandu Alajangi" userId="0af5de0a-9687-43eb-87e1-9015e944b735" providerId="ADAL" clId="{0B48877B-854C-5858-9F65-0F555EC4B5B4}" dt="2026-04-10T05:37:18.321" v="118" actId="123"/>
        <pc:sldMkLst>
          <pc:docMk/>
          <pc:sldMk cId="2050556293" sldId="337"/>
        </pc:sldMkLst>
        <pc:spChg chg="mod">
          <ac:chgData name="Chandu Alajangi" userId="0af5de0a-9687-43eb-87e1-9015e944b735" providerId="ADAL" clId="{0B48877B-854C-5858-9F65-0F555EC4B5B4}" dt="2026-04-10T05:32:51.943" v="84" actId="113"/>
          <ac:spMkLst>
            <pc:docMk/>
            <pc:sldMk cId="2050556293" sldId="337"/>
            <ac:spMk id="2" creationId="{89528DE1-7F6A-4587-1272-2026BEF14F66}"/>
          </ac:spMkLst>
        </pc:spChg>
        <pc:spChg chg="mod">
          <ac:chgData name="Chandu Alajangi" userId="0af5de0a-9687-43eb-87e1-9015e944b735" providerId="ADAL" clId="{0B48877B-854C-5858-9F65-0F555EC4B5B4}" dt="2026-04-10T05:37:18.321" v="118" actId="123"/>
          <ac:spMkLst>
            <pc:docMk/>
            <pc:sldMk cId="2050556293" sldId="337"/>
            <ac:spMk id="3" creationId="{19D6A6D9-B80D-F9FA-ECBF-0669786A4005}"/>
          </ac:spMkLst>
        </pc:spChg>
      </pc:sldChg>
      <pc:sldChg chg="modSp mod">
        <pc:chgData name="Chandu Alajangi" userId="0af5de0a-9687-43eb-87e1-9015e944b735" providerId="ADAL" clId="{0B48877B-854C-5858-9F65-0F555EC4B5B4}" dt="2026-04-10T05:37:24.237" v="119" actId="123"/>
        <pc:sldMkLst>
          <pc:docMk/>
          <pc:sldMk cId="3824491150" sldId="338"/>
        </pc:sldMkLst>
        <pc:spChg chg="mod">
          <ac:chgData name="Chandu Alajangi" userId="0af5de0a-9687-43eb-87e1-9015e944b735" providerId="ADAL" clId="{0B48877B-854C-5858-9F65-0F555EC4B5B4}" dt="2026-04-10T05:33:14.727" v="86" actId="113"/>
          <ac:spMkLst>
            <pc:docMk/>
            <pc:sldMk cId="3824491150" sldId="338"/>
            <ac:spMk id="2" creationId="{737F4715-DD5F-573C-A477-BF546A29602A}"/>
          </ac:spMkLst>
        </pc:spChg>
        <pc:spChg chg="mod">
          <ac:chgData name="Chandu Alajangi" userId="0af5de0a-9687-43eb-87e1-9015e944b735" providerId="ADAL" clId="{0B48877B-854C-5858-9F65-0F555EC4B5B4}" dt="2026-04-10T05:37:24.237" v="119" actId="123"/>
          <ac:spMkLst>
            <pc:docMk/>
            <pc:sldMk cId="3824491150" sldId="338"/>
            <ac:spMk id="3" creationId="{52184B9D-B769-57BD-02D4-80E257318B37}"/>
          </ac:spMkLst>
        </pc:spChg>
      </pc:sldChg>
      <pc:sldChg chg="modSp mod">
        <pc:chgData name="Chandu Alajangi" userId="0af5de0a-9687-43eb-87e1-9015e944b735" providerId="ADAL" clId="{0B48877B-854C-5858-9F65-0F555EC4B5B4}" dt="2026-04-10T05:34:01.994" v="88" actId="123"/>
        <pc:sldMkLst>
          <pc:docMk/>
          <pc:sldMk cId="3826906122" sldId="339"/>
        </pc:sldMkLst>
        <pc:spChg chg="mod">
          <ac:chgData name="Chandu Alajangi" userId="0af5de0a-9687-43eb-87e1-9015e944b735" providerId="ADAL" clId="{0B48877B-854C-5858-9F65-0F555EC4B5B4}" dt="2026-04-10T05:23:21.788" v="29" actId="2711"/>
          <ac:spMkLst>
            <pc:docMk/>
            <pc:sldMk cId="3826906122" sldId="339"/>
            <ac:spMk id="2" creationId="{28424D7D-CE63-CB78-09AB-0022676A8526}"/>
          </ac:spMkLst>
        </pc:spChg>
        <pc:spChg chg="mod">
          <ac:chgData name="Chandu Alajangi" userId="0af5de0a-9687-43eb-87e1-9015e944b735" providerId="ADAL" clId="{0B48877B-854C-5858-9F65-0F555EC4B5B4}" dt="2026-04-10T05:34:01.994" v="88" actId="123"/>
          <ac:spMkLst>
            <pc:docMk/>
            <pc:sldMk cId="3826906122" sldId="339"/>
            <ac:spMk id="3" creationId="{99E2571F-3612-AA88-61AC-69ECCFE8934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9" name="Slide Number Placeholder 8"/>
          <p:cNvSpPr>
            <a:spLocks noGrp="1"/>
          </p:cNvSpPr>
          <p:nvPr>
            <p:ph type="sldNum" sz="quarter" idx="11"/>
          </p:nvPr>
        </p:nvSpPr>
        <p:spPr/>
        <p:txBody>
          <a:bodyPr/>
          <a:lstStyle/>
          <a:p>
            <a:fld id="{D57F1E4F-1CFF-5643-939E-217C01CDF565}"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D57F1E4F-1CFF-5643-939E-217C01CDF565}" type="slidenum">
              <a:rPr lang="en-US" smtClean="0"/>
              <a:pPr/>
              <a:t>‹#›</a:t>
            </a:fld>
            <a:endParaRPr lang="en-US" dirty="0"/>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B61BEF0D-F0BB-DE4B-95CE-6DB70DBA9567}" type="datetimeFigureOut">
              <a:rPr lang="en-US" smtClean="0"/>
              <a:pPr/>
              <a:t>4/14/2026</a:t>
            </a:fld>
            <a:endParaRPr lang="en-US" dirty="0"/>
          </a:p>
        </p:txBody>
      </p:sp>
    </p:spTree>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853" y="150395"/>
            <a:ext cx="10359189" cy="1804738"/>
          </a:xfrm>
        </p:spPr>
        <p:txBody>
          <a:bodyPr>
            <a:normAutofit/>
          </a:bodyPr>
          <a:lstStyle/>
          <a:p>
            <a:pPr algn="ctr"/>
            <a:r>
              <a:rPr lang="en-IN" sz="1600" b="1" dirty="0">
                <a:solidFill>
                  <a:schemeClr val="tx2">
                    <a:lumMod val="50000"/>
                  </a:schemeClr>
                </a:solidFill>
                <a:latin typeface="Times New Roman" pitchFamily="18" charset="0"/>
                <a:cs typeface="Times New Roman" pitchFamily="18" charset="0"/>
              </a:rPr>
              <a:t>JAWAHARLAL NEHRU TECHNOLOGICAL UNIVERSITY KAKINADA</a:t>
            </a:r>
            <a:br>
              <a:rPr lang="en-IN" sz="1600" dirty="0">
                <a:latin typeface="Times New Roman" pitchFamily="18" charset="0"/>
                <a:cs typeface="Times New Roman" pitchFamily="18" charset="0"/>
              </a:rPr>
            </a:br>
            <a:br>
              <a:rPr lang="en-IN" sz="1600" dirty="0">
                <a:latin typeface="Times New Roman" pitchFamily="18" charset="0"/>
                <a:cs typeface="Times New Roman" pitchFamily="18" charset="0"/>
              </a:rPr>
            </a:br>
            <a:r>
              <a:rPr lang="en-IN" sz="1600" b="1" dirty="0">
                <a:solidFill>
                  <a:schemeClr val="tx1"/>
                </a:solidFill>
                <a:latin typeface="Times New Roman" pitchFamily="18" charset="0"/>
                <a:cs typeface="Times New Roman" pitchFamily="18" charset="0"/>
              </a:rPr>
              <a:t>UNIVERSITY  COLLEGE  OF  ENGINEERING  NARASARAOPET</a:t>
            </a:r>
            <a:br>
              <a:rPr lang="en-IN" sz="1600" dirty="0">
                <a:solidFill>
                  <a:schemeClr val="tx1"/>
                </a:solidFill>
                <a:latin typeface="Times New Roman" pitchFamily="18" charset="0"/>
                <a:cs typeface="Times New Roman" pitchFamily="18" charset="0"/>
              </a:rPr>
            </a:br>
            <a:br>
              <a:rPr lang="en-IN" sz="1600" dirty="0">
                <a:solidFill>
                  <a:schemeClr val="tx1"/>
                </a:solidFill>
                <a:latin typeface="Times New Roman" pitchFamily="18" charset="0"/>
                <a:cs typeface="Times New Roman" pitchFamily="18" charset="0"/>
              </a:rPr>
            </a:br>
            <a:r>
              <a:rPr lang="en-IN" sz="1600" b="1" dirty="0">
                <a:latin typeface="Times New Roman" pitchFamily="18" charset="0"/>
                <a:cs typeface="Times New Roman" pitchFamily="18" charset="0"/>
              </a:rPr>
              <a:t>Department  of  Computer Science  and  Engineering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7859" y="307596"/>
            <a:ext cx="1419725" cy="1205336"/>
          </a:xfrm>
        </p:spPr>
      </p:pic>
      <p:sp>
        <p:nvSpPr>
          <p:cNvPr id="5" name="Rectangle 4"/>
          <p:cNvSpPr/>
          <p:nvPr/>
        </p:nvSpPr>
        <p:spPr>
          <a:xfrm>
            <a:off x="147484" y="2070442"/>
            <a:ext cx="11100619" cy="954107"/>
          </a:xfrm>
          <a:prstGeom prst="rect">
            <a:avLst/>
          </a:prstGeom>
        </p:spPr>
        <p:txBody>
          <a:bodyPr wrap="square">
            <a:spAutoFit/>
          </a:bodyPr>
          <a:lstStyle/>
          <a:p>
            <a:pPr algn="ctr"/>
            <a:r>
              <a:rPr lang="en-US" sz="2800" b="1" dirty="0" err="1">
                <a:latin typeface="Times New Roman" pitchFamily="18" charset="0"/>
                <a:cs typeface="Times New Roman" pitchFamily="18" charset="0"/>
              </a:rPr>
              <a:t>SmartDoc</a:t>
            </a:r>
            <a:r>
              <a:rPr lang="en-US" sz="2800" dirty="0">
                <a:latin typeface="Times New Roman" pitchFamily="18" charset="0"/>
                <a:cs typeface="Times New Roman" pitchFamily="18" charset="0"/>
              </a:rPr>
              <a:t>: Image-Based Retrieval System for Government and</a:t>
            </a:r>
          </a:p>
          <a:p>
            <a:pPr algn="ctr"/>
            <a:r>
              <a:rPr lang="en-US" sz="2800" dirty="0">
                <a:latin typeface="Times New Roman" pitchFamily="18" charset="0"/>
                <a:cs typeface="Times New Roman" pitchFamily="18" charset="0"/>
              </a:rPr>
              <a:t>Personal Documents</a:t>
            </a:r>
            <a:endParaRPr lang="en-IN" sz="2800" dirty="0">
              <a:latin typeface="Times New Roman" pitchFamily="18" charset="0"/>
              <a:cs typeface="Times New Roman" pitchFamily="18" charset="0"/>
            </a:endParaRPr>
          </a:p>
        </p:txBody>
      </p:sp>
      <p:sp>
        <p:nvSpPr>
          <p:cNvPr id="6" name="Rectangle 5"/>
          <p:cNvSpPr/>
          <p:nvPr/>
        </p:nvSpPr>
        <p:spPr>
          <a:xfrm>
            <a:off x="2006805" y="3139858"/>
            <a:ext cx="8145379" cy="2862322"/>
          </a:xfrm>
          <a:prstGeom prst="rect">
            <a:avLst/>
          </a:prstGeom>
        </p:spPr>
        <p:txBody>
          <a:bodyPr wrap="square">
            <a:spAutoFit/>
          </a:bodyPr>
          <a:lstStyle/>
          <a:p>
            <a:pPr algn="ctr"/>
            <a:r>
              <a:rPr lang="en-IN" dirty="0">
                <a:latin typeface="Times New Roman" panose="02020603050405020304" pitchFamily="18" charset="0"/>
                <a:cs typeface="Times New Roman" pitchFamily="18" charset="0"/>
              </a:rPr>
              <a:t>Presented By:</a:t>
            </a:r>
          </a:p>
          <a:p>
            <a:r>
              <a:rPr lang="en-IN" dirty="0">
                <a:latin typeface="Times New Roman" panose="02020603050405020304" pitchFamily="18" charset="0"/>
                <a:cs typeface="Times New Roman" pitchFamily="18" charset="0"/>
              </a:rPr>
              <a:t>Shaik Sha Ali Mastan Akram                     					22031A0546	</a:t>
            </a:r>
          </a:p>
          <a:p>
            <a:r>
              <a:rPr lang="en-IN" dirty="0">
                <a:latin typeface="Times New Roman" panose="02020603050405020304" pitchFamily="18" charset="0"/>
                <a:cs typeface="Times New Roman" pitchFamily="18" charset="0"/>
              </a:rPr>
              <a:t>Valluri Geetha  										23035A0509</a:t>
            </a:r>
          </a:p>
          <a:p>
            <a:r>
              <a:rPr lang="en-IN" dirty="0">
                <a:latin typeface="Times New Roman" panose="02020603050405020304" pitchFamily="18" charset="0"/>
                <a:cs typeface="Times New Roman" pitchFamily="18" charset="0"/>
              </a:rPr>
              <a:t>Paidi Keerthika										22031A0533</a:t>
            </a:r>
          </a:p>
          <a:p>
            <a:r>
              <a:rPr lang="en-IN" dirty="0">
                <a:latin typeface="Times New Roman" panose="02020603050405020304" pitchFamily="18" charset="0"/>
                <a:cs typeface="Times New Roman" pitchFamily="18" charset="0"/>
              </a:rPr>
              <a:t>Chukka Gowthami 	             								22031A0512		</a:t>
            </a:r>
          </a:p>
          <a:p>
            <a:r>
              <a:rPr lang="en-IN" dirty="0">
                <a:latin typeface="Times New Roman" panose="02020603050405020304" pitchFamily="18" charset="0"/>
                <a:cs typeface="Times New Roman" pitchFamily="18" charset="0"/>
              </a:rPr>
              <a:t>Alajangi Chandu							                        22031A0503	</a:t>
            </a:r>
          </a:p>
          <a:p>
            <a:endParaRPr lang="en-IN" dirty="0"/>
          </a:p>
          <a:p>
            <a:pPr algn="ctr"/>
            <a:endParaRPr lang="en-IN" dirty="0">
              <a:latin typeface="Times New Roman" pitchFamily="18" charset="0"/>
              <a:cs typeface="Times New Roman" pitchFamily="18" charset="0"/>
            </a:endParaRPr>
          </a:p>
          <a:p>
            <a:pPr algn="ctr"/>
            <a:r>
              <a:rPr lang="en-IN" dirty="0">
                <a:latin typeface="Times New Roman" pitchFamily="18" charset="0"/>
                <a:cs typeface="Times New Roman" pitchFamily="18" charset="0"/>
              </a:rPr>
              <a:t>           Under the esteemed guidance </a:t>
            </a:r>
            <a:r>
              <a:rPr lang="en-IN" dirty="0">
                <a:solidFill>
                  <a:schemeClr val="bg1"/>
                </a:solidFill>
                <a:latin typeface="Times New Roman" pitchFamily="18" charset="0"/>
                <a:cs typeface="Times New Roman" pitchFamily="18" charset="0"/>
              </a:rPr>
              <a:t>of zzz</a:t>
            </a:r>
          </a:p>
          <a:p>
            <a:pPr algn="ctr"/>
            <a:r>
              <a:rPr lang="en-US" b="1" dirty="0">
                <a:latin typeface="Times New Roman" pitchFamily="18" charset="0"/>
                <a:cs typeface="Times New Roman" pitchFamily="18" charset="0"/>
              </a:rPr>
              <a:t>Project Guide: Mrs. B. Jyothi </a:t>
            </a:r>
          </a:p>
        </p:txBody>
      </p:sp>
    </p:spTree>
    <p:extLst>
      <p:ext uri="{BB962C8B-B14F-4D97-AF65-F5344CB8AC3E}">
        <p14:creationId xmlns:p14="http://schemas.microsoft.com/office/powerpoint/2010/main" val="257489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431" y="54143"/>
            <a:ext cx="10160000" cy="1143000"/>
          </a:xfrm>
        </p:spPr>
        <p:txBody>
          <a:bodyPr/>
          <a:lstStyle/>
          <a:p>
            <a:r>
              <a:rPr lang="en-IN" sz="2800" b="1" dirty="0">
                <a:latin typeface="Times New Roman" pitchFamily="18" charset="0"/>
                <a:cs typeface="Times New Roman" pitchFamily="18" charset="0"/>
              </a:rPr>
              <a:t>CONTENTS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647763" y="1080901"/>
            <a:ext cx="9607281" cy="5437886"/>
          </a:xfrm>
        </p:spPr>
        <p:txBody>
          <a:bodyPr vert="horz" lIns="91440" tIns="45720" rIns="91440" bIns="45720" rtlCol="0" anchor="t">
            <a:normAutofit fontScale="92500" lnSpcReduction="20000"/>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Existing System</a:t>
            </a:r>
          </a:p>
          <a:p>
            <a:r>
              <a:rPr lang="en-IN" dirty="0">
                <a:latin typeface="Times New Roman" panose="02020603050405020304" pitchFamily="18" charset="0"/>
                <a:cs typeface="Times New Roman" panose="02020603050405020304" pitchFamily="18" charset="0"/>
              </a:rPr>
              <a:t>Limitations of Existing System</a:t>
            </a:r>
          </a:p>
          <a:p>
            <a:r>
              <a:rPr lang="en-IN" dirty="0">
                <a:latin typeface="Times New Roman" panose="02020603050405020304" pitchFamily="18" charset="0"/>
                <a:cs typeface="Times New Roman" panose="02020603050405020304" pitchFamily="18" charset="0"/>
              </a:rPr>
              <a:t>Overcoming drawbacks of </a:t>
            </a:r>
            <a:r>
              <a:rPr lang="en-IN">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Proposed System</a:t>
            </a:r>
          </a:p>
          <a:p>
            <a:r>
              <a:rPr lang="en-IN" dirty="0">
                <a:latin typeface="Times New Roman" panose="02020603050405020304" pitchFamily="18" charset="0"/>
                <a:cs typeface="Times New Roman" panose="02020603050405020304" pitchFamily="18" charset="0"/>
              </a:rPr>
              <a:t>Advantages of Proposed System</a:t>
            </a:r>
          </a:p>
          <a:p>
            <a:r>
              <a:rPr lang="en-IN" dirty="0">
                <a:latin typeface="Times New Roman" panose="02020603050405020304" pitchFamily="18" charset="0"/>
                <a:cs typeface="Times New Roman" panose="02020603050405020304" pitchFamily="18" charset="0"/>
              </a:rPr>
              <a:t>Literature Review</a:t>
            </a:r>
          </a:p>
          <a:p>
            <a:r>
              <a:rPr lang="en-IN" dirty="0">
                <a:latin typeface="Times New Roman" panose="02020603050405020304" pitchFamily="18" charset="0"/>
                <a:cs typeface="Times New Roman" panose="02020603050405020304" pitchFamily="18" charset="0"/>
              </a:rPr>
              <a:t>Dataset Description</a:t>
            </a:r>
          </a:p>
          <a:p>
            <a:r>
              <a:rPr lang="en-IN" dirty="0">
                <a:latin typeface="Times New Roman" panose="02020603050405020304" pitchFamily="18" charset="0"/>
                <a:cs typeface="Times New Roman" panose="02020603050405020304" pitchFamily="18" charset="0"/>
              </a:rPr>
              <a:t>Functional and Non Function Requirements</a:t>
            </a:r>
          </a:p>
          <a:p>
            <a:r>
              <a:rPr lang="en-IN" dirty="0">
                <a:latin typeface="Times New Roman" panose="02020603050405020304" pitchFamily="18" charset="0"/>
                <a:cs typeface="Times New Roman" panose="02020603050405020304" pitchFamily="18" charset="0"/>
              </a:rPr>
              <a:t>Software and Hardware Requirements</a:t>
            </a:r>
          </a:p>
          <a:p>
            <a:r>
              <a:rPr lang="en-IN" dirty="0">
                <a:latin typeface="Times New Roman" panose="02020603050405020304" pitchFamily="18" charset="0"/>
                <a:cs typeface="Times New Roman" panose="02020603050405020304" pitchFamily="18" charset="0"/>
              </a:rPr>
              <a:t>Modules</a:t>
            </a:r>
          </a:p>
          <a:p>
            <a:r>
              <a:rPr lang="en-IN" dirty="0">
                <a:latin typeface="Times New Roman" panose="02020603050405020304" pitchFamily="18" charset="0"/>
                <a:cs typeface="Times New Roman" panose="02020603050405020304" pitchFamily="18" charset="0"/>
              </a:rPr>
              <a:t>System Architecture</a:t>
            </a:r>
          </a:p>
          <a:p>
            <a:r>
              <a:rPr lang="en-IN" dirty="0">
                <a:latin typeface="Times New Roman" panose="02020603050405020304" pitchFamily="18" charset="0"/>
                <a:cs typeface="Times New Roman" panose="02020603050405020304" pitchFamily="18" charset="0"/>
              </a:rPr>
              <a:t>Class Diagram</a:t>
            </a:r>
          </a:p>
          <a:p>
            <a:r>
              <a:rPr lang="en-IN" dirty="0">
                <a:latin typeface="Times New Roman" panose="02020603050405020304" pitchFamily="18" charset="0"/>
                <a:cs typeface="Times New Roman" panose="02020603050405020304" pitchFamily="18" charset="0"/>
              </a:rPr>
              <a:t>Sequence Diagram</a:t>
            </a:r>
          </a:p>
          <a:p>
            <a:r>
              <a:rPr lang="en-IN" dirty="0">
                <a:latin typeface="Times New Roman" panose="02020603050405020304" pitchFamily="18" charset="0"/>
                <a:cs typeface="Times New Roman" panose="02020603050405020304" pitchFamily="18" charset="0"/>
              </a:rPr>
              <a:t>Activity Diagram</a:t>
            </a:r>
          </a:p>
          <a:p>
            <a:r>
              <a:rPr lang="en-IN" dirty="0">
                <a:latin typeface="Times New Roman" panose="02020603050405020304" pitchFamily="18" charset="0"/>
                <a:cs typeface="Times New Roman" panose="02020603050405020304" pitchFamily="18" charset="0"/>
              </a:rPr>
              <a:t>Component Diagram</a:t>
            </a:r>
          </a:p>
          <a:p>
            <a:pPr marL="0" indent="0">
              <a:buNone/>
            </a:pPr>
            <a:endParaRPr lang="en-IN" dirty="0"/>
          </a:p>
          <a:p>
            <a:endParaRPr lang="en-IN" dirty="0"/>
          </a:p>
          <a:p>
            <a:endParaRPr lang="en-IN" dirty="0"/>
          </a:p>
        </p:txBody>
      </p:sp>
    </p:spTree>
    <p:extLst>
      <p:ext uri="{BB962C8B-B14F-4D97-AF65-F5344CB8AC3E}">
        <p14:creationId xmlns:p14="http://schemas.microsoft.com/office/powerpoint/2010/main" val="2283022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340B-25D4-2DDE-3A76-5ED6F137DB12}"/>
              </a:ext>
            </a:extLst>
          </p:cNvPr>
          <p:cNvSpPr>
            <a:spLocks noGrp="1"/>
          </p:cNvSpPr>
          <p:nvPr>
            <p:ph type="title"/>
          </p:nvPr>
        </p:nvSpPr>
        <p:spPr>
          <a:xfrm>
            <a:off x="603250" y="109538"/>
            <a:ext cx="10160000" cy="1143000"/>
          </a:xfrm>
        </p:spPr>
        <p:txBody>
          <a:bodyPr>
            <a:normAutofit/>
          </a:bodyPr>
          <a:lstStyle/>
          <a:p>
            <a:r>
              <a:rPr lang="en-IN" sz="2800" b="1" dirty="0">
                <a:latin typeface="Times New Roman" pitchFamily="18" charset="0"/>
                <a:cs typeface="Times New Roman" pitchFamily="18" charset="0"/>
              </a:rPr>
              <a:t>Abstract</a:t>
            </a:r>
          </a:p>
        </p:txBody>
      </p:sp>
      <p:sp>
        <p:nvSpPr>
          <p:cNvPr id="3" name="Content Placeholder 2">
            <a:extLst>
              <a:ext uri="{FF2B5EF4-FFF2-40B4-BE49-F238E27FC236}">
                <a16:creationId xmlns:a16="http://schemas.microsoft.com/office/drawing/2014/main" id="{A2186895-6125-9F72-99D0-FE33AAFD6EFD}"/>
              </a:ext>
            </a:extLst>
          </p:cNvPr>
          <p:cNvSpPr>
            <a:spLocks noGrp="1"/>
          </p:cNvSpPr>
          <p:nvPr>
            <p:ph idx="1"/>
          </p:nvPr>
        </p:nvSpPr>
        <p:spPr>
          <a:xfrm>
            <a:off x="330200" y="1047751"/>
            <a:ext cx="10433050" cy="5423086"/>
          </a:xfrm>
        </p:spPr>
        <p:txBody>
          <a:bodyPr vert="horz" lIns="91440" tIns="45720" rIns="91440" bIns="45720" rtlCol="0" anchor="t">
            <a:normAutofit/>
          </a:bodyPr>
          <a:lstStyle/>
          <a:p>
            <a:pPr marL="114300" indent="0" algn="just">
              <a:buNone/>
            </a:pPr>
            <a:r>
              <a:rPr lang="en-US" sz="2000" dirty="0">
                <a:latin typeface="Times New Roman" panose="02020603050405020304" pitchFamily="18" charset="0"/>
                <a:cs typeface="Times New Roman" panose="02020603050405020304" pitchFamily="18" charset="0"/>
              </a:rPr>
              <a:t>	Managing and retrieving scanned government and personal documents such as Aadhaar cards, PAN cards, certificates, and invoices is a common challenge due to unorganized storage and inconsistent file naming. This project introduces an image-based document retrieval system that enables users to locate documents by uploading a reference image instead of relying on text-based search. The system extracts visual features and performs similarity matching to retrieve relevant documents along with their file locations. Optical Character Recognition (OCR) is applied to extract textual content, which is further processed using a Large Language Model to generate semantic labels and document summaries. The novelty of the system lies in combining lightweight image retrieval with language-based understanding while avoiding computationally intensive deep-learning models. Evaluation metrics include retrieval accuracy and response time. The system significantly improves document accessibility and organization, making it suitable for personal, institutional, and administrative use.</a:t>
            </a:r>
            <a:endParaRPr lang="en-US" sz="29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982064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0E4D-EC74-C992-83C9-3548C7D83492}"/>
              </a:ext>
            </a:extLst>
          </p:cNvPr>
          <p:cNvSpPr>
            <a:spLocks noGrp="1"/>
          </p:cNvSpPr>
          <p:nvPr>
            <p:ph type="title"/>
          </p:nvPr>
        </p:nvSpPr>
        <p:spPr>
          <a:xfrm>
            <a:off x="677334" y="290946"/>
            <a:ext cx="8596668" cy="955964"/>
          </a:xfrm>
        </p:spPr>
        <p:txBody>
          <a:bodyPr/>
          <a:lstStyle/>
          <a:p>
            <a:r>
              <a:rPr lang="en-IN" sz="28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1BF847-814A-6C2B-2681-E267A6E89A10}"/>
              </a:ext>
            </a:extLst>
          </p:cNvPr>
          <p:cNvSpPr>
            <a:spLocks noGrp="1"/>
          </p:cNvSpPr>
          <p:nvPr>
            <p:ph idx="1"/>
          </p:nvPr>
        </p:nvSpPr>
        <p:spPr>
          <a:xfrm>
            <a:off x="805153" y="1168252"/>
            <a:ext cx="10416116" cy="5113251"/>
          </a:xfrm>
        </p:spPr>
        <p:txBody>
          <a:bodyPr vert="horz" lIns="91440" tIns="45720" rIns="91440" bIns="45720" rtlCol="0" anchor="t">
            <a:normAutofit lnSpcReduction="10000"/>
          </a:bodyPr>
          <a:lstStyle/>
          <a:p>
            <a:pPr algn="just"/>
            <a:r>
              <a:rPr lang="en-US" sz="2000" dirty="0">
                <a:latin typeface="Times New Roman" pitchFamily="18" charset="0"/>
                <a:cs typeface="Times New Roman" pitchFamily="18" charset="0"/>
              </a:rPr>
              <a:t>Traditional methods of storing and retrieving government and personal documents depend on manual organization and text-based file naming, which is inefficient, error-prone, and difficult to manage as the number of documents increases.</a:t>
            </a:r>
          </a:p>
          <a:p>
            <a:pPr algn="just"/>
            <a:r>
              <a:rPr lang="en-US" sz="2000" dirty="0">
                <a:latin typeface="Times New Roman" pitchFamily="18" charset="0"/>
                <a:cs typeface="Times New Roman" pitchFamily="18" charset="0"/>
              </a:rPr>
              <a:t>To address this problem, the proposed system </a:t>
            </a:r>
            <a:r>
              <a:rPr lang="en-US" sz="2000" b="1" dirty="0" err="1">
                <a:latin typeface="Times New Roman" panose="02020603050405020304" pitchFamily="18" charset="0"/>
                <a:cs typeface="Times New Roman" panose="02020603050405020304" pitchFamily="18" charset="0"/>
              </a:rPr>
              <a:t>SmartDoc</a:t>
            </a:r>
            <a:r>
              <a:rPr lang="en-US" sz="2000" dirty="0">
                <a:latin typeface="Times New Roman" panose="02020603050405020304" pitchFamily="18" charset="0"/>
                <a:cs typeface="Times New Roman" panose="02020603050405020304" pitchFamily="18" charset="0"/>
              </a:rPr>
              <a:t> enables image-based document retrieval, allowing users to locate documents by uploading a reference image instead of relying on keyword-based searches.</a:t>
            </a:r>
          </a:p>
          <a:p>
            <a:pPr algn="just"/>
            <a:r>
              <a:rPr lang="en-US" sz="2000" dirty="0">
                <a:latin typeface="Times New Roman" panose="02020603050405020304" pitchFamily="18" charset="0"/>
                <a:cs typeface="Times New Roman" panose="02020603050405020304" pitchFamily="18" charset="0"/>
              </a:rPr>
              <a:t>The system extracts lightweight visual features from document images and performs similarity matching to retrieve relevant documents along with their file locations.</a:t>
            </a:r>
          </a:p>
          <a:p>
            <a:pPr algn="just"/>
            <a:r>
              <a:rPr lang="en-US" sz="2000" b="1" dirty="0">
                <a:latin typeface="Times New Roman" panose="02020603050405020304" pitchFamily="18" charset="0"/>
                <a:cs typeface="Times New Roman" panose="02020603050405020304" pitchFamily="18" charset="0"/>
              </a:rPr>
              <a:t>Optical Character Recognition (OCR)</a:t>
            </a:r>
            <a:r>
              <a:rPr lang="en-US" sz="2000" dirty="0">
                <a:latin typeface="Times New Roman" panose="02020603050405020304" pitchFamily="18" charset="0"/>
                <a:cs typeface="Times New Roman" panose="02020603050405020304" pitchFamily="18" charset="0"/>
              </a:rPr>
              <a:t> is applied to extract textual information from documents, enabling better identification and classification of document content.</a:t>
            </a:r>
          </a:p>
          <a:p>
            <a:pPr algn="just"/>
            <a:r>
              <a:rPr lang="en-US" sz="2000" dirty="0">
                <a:latin typeface="Times New Roman" panose="02020603050405020304" pitchFamily="18" charset="0"/>
                <a:cs typeface="Times New Roman" panose="02020603050405020304" pitchFamily="18" charset="0"/>
              </a:rPr>
              <a:t>The extracted text is further processed using a </a:t>
            </a:r>
            <a:r>
              <a:rPr lang="en-US" sz="2000" b="1" dirty="0">
                <a:latin typeface="Times New Roman" panose="02020603050405020304" pitchFamily="18" charset="0"/>
                <a:cs typeface="Times New Roman" panose="02020603050405020304" pitchFamily="18" charset="0"/>
              </a:rPr>
              <a:t>Large Language Model (LLM)</a:t>
            </a:r>
            <a:r>
              <a:rPr lang="en-US" sz="2000" dirty="0">
                <a:latin typeface="Times New Roman" panose="02020603050405020304" pitchFamily="18" charset="0"/>
                <a:cs typeface="Times New Roman" panose="02020603050405020304" pitchFamily="18" charset="0"/>
              </a:rPr>
              <a:t> to generate semantic labels and concise document summaries, improving document understanding and organization.</a:t>
            </a:r>
          </a:p>
          <a:p>
            <a:pPr algn="just"/>
            <a:r>
              <a:rPr lang="en-IN" sz="2000" dirty="0">
                <a:latin typeface="Times New Roman" panose="02020603050405020304" pitchFamily="18" charset="0"/>
                <a:cs typeface="Times New Roman" panose="02020603050405020304" pitchFamily="18" charset="0"/>
              </a:rPr>
              <a:t>By combining efficient image retrieval with language-based semantic analysis while avoiding computationally intensive deep-learning models, </a:t>
            </a:r>
            <a:r>
              <a:rPr lang="en-IN" sz="2000" dirty="0" err="1">
                <a:latin typeface="Times New Roman" panose="02020603050405020304" pitchFamily="18" charset="0"/>
                <a:cs typeface="Times New Roman" panose="02020603050405020304" pitchFamily="18" charset="0"/>
              </a:rPr>
              <a:t>SmartDoc</a:t>
            </a:r>
            <a:r>
              <a:rPr lang="en-IN" sz="2000" dirty="0">
                <a:latin typeface="Times New Roman" pitchFamily="18" charset="0"/>
                <a:cs typeface="Times New Roman" pitchFamily="18" charset="0"/>
              </a:rPr>
              <a:t> offers a scalable, fast, and user-friendly solution for personal, institutional, and administrative document management.</a:t>
            </a:r>
          </a:p>
        </p:txBody>
      </p:sp>
    </p:spTree>
    <p:extLst>
      <p:ext uri="{BB962C8B-B14F-4D97-AF65-F5344CB8AC3E}">
        <p14:creationId xmlns:p14="http://schemas.microsoft.com/office/powerpoint/2010/main" val="1061638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4D7D-CE63-CB78-09AB-0022676A8526}"/>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Problem</a:t>
            </a:r>
            <a:r>
              <a:rPr lang="en-US"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Statement</a:t>
            </a:r>
          </a:p>
        </p:txBody>
      </p:sp>
      <p:sp>
        <p:nvSpPr>
          <p:cNvPr id="3" name="Content Placeholder 2">
            <a:extLst>
              <a:ext uri="{FF2B5EF4-FFF2-40B4-BE49-F238E27FC236}">
                <a16:creationId xmlns:a16="http://schemas.microsoft.com/office/drawing/2014/main" id="{99E2571F-3612-AA88-61AC-69ECCFE89344}"/>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Traditional document management systems in organizations and institutions rely on manual filling or basic digital storage .</a:t>
            </a:r>
          </a:p>
          <a:p>
            <a:pPr algn="just"/>
            <a:r>
              <a:rPr lang="en-US" sz="2000" dirty="0">
                <a:latin typeface="Times New Roman" panose="02020603050405020304" pitchFamily="18" charset="0"/>
                <a:cs typeface="Times New Roman" panose="02020603050405020304" pitchFamily="18" charset="0"/>
              </a:rPr>
              <a:t>As document volumes grow , filename-based search and manual categorization become time consuming and ineffective .</a:t>
            </a:r>
          </a:p>
          <a:p>
            <a:pPr algn="just"/>
            <a:r>
              <a:rPr lang="en-US" sz="2000" dirty="0">
                <a:latin typeface="Times New Roman" panose="02020603050405020304" pitchFamily="18" charset="0"/>
                <a:cs typeface="Times New Roman" panose="02020603050405020304" pitchFamily="18" charset="0"/>
              </a:rPr>
              <a:t>Scanned documents further complicate retrieval due to the need for OCR, which may produce errors.</a:t>
            </a:r>
          </a:p>
          <a:p>
            <a:pPr algn="just"/>
            <a:r>
              <a:rPr lang="en-US" sz="2000" dirty="0">
                <a:latin typeface="Times New Roman" panose="02020603050405020304" pitchFamily="18" charset="0"/>
                <a:cs typeface="Times New Roman" panose="02020603050405020304" pitchFamily="18" charset="0"/>
              </a:rPr>
              <a:t>Centralized storage increases the risk of duplication and mismanagement. SmartDoc addresses these challenges by providing a secure, fully local system that integrates OCR feature extraction, local language models, and database indexing to enable intelligent, efficient, and privacy-focused document management.</a:t>
            </a:r>
          </a:p>
        </p:txBody>
      </p:sp>
    </p:spTree>
    <p:extLst>
      <p:ext uri="{BB962C8B-B14F-4D97-AF65-F5344CB8AC3E}">
        <p14:creationId xmlns:p14="http://schemas.microsoft.com/office/powerpoint/2010/main" val="3826906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C050-EB6A-0ED6-1526-AA82CD1D9EED}"/>
              </a:ext>
            </a:extLst>
          </p:cNvPr>
          <p:cNvSpPr>
            <a:spLocks noGrp="1"/>
          </p:cNvSpPr>
          <p:nvPr>
            <p:ph type="title"/>
          </p:nvPr>
        </p:nvSpPr>
        <p:spPr/>
        <p:txBody>
          <a:bodyPr/>
          <a:lstStyle/>
          <a:p>
            <a:r>
              <a:rPr lang="en-IN" sz="2800" b="1" dirty="0">
                <a:latin typeface="Times New Roman" pitchFamily="18" charset="0"/>
                <a:cs typeface="Times New Roman" pitchFamily="18" charset="0"/>
              </a:rPr>
              <a:t>Existing System</a:t>
            </a:r>
            <a:endParaRPr lang="en-US" sz="28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44E411EC-D53E-89E5-765C-D2CB70CDA61A}"/>
              </a:ext>
            </a:extLst>
          </p:cNvPr>
          <p:cNvSpPr txBox="1"/>
          <p:nvPr/>
        </p:nvSpPr>
        <p:spPr>
          <a:xfrm>
            <a:off x="609600" y="1199536"/>
            <a:ext cx="9783097" cy="6347892"/>
          </a:xfrm>
          <a:prstGeom prst="rect">
            <a:avLst/>
          </a:prstGeom>
          <a:noFill/>
        </p:spPr>
        <p:txBody>
          <a:bodyPr wrap="square" rtlCol="0">
            <a:spAutoFit/>
          </a:bodyPr>
          <a:lstStyle/>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Documents like Aadhaar, PAN, mark sheets, certificates, and invoices are stored as scanned images or PDFs.</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Files are saved without standardized naming or structured categorization.</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Retrieval is done through manual folder browsing or basic text-based search.</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Users must remember file names, dates, or storage locations to find documents.</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Scanned files are not analyzed for internal text content.</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Documents cannot be searched based on their actual content.</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system is inefficient, memory-dependent, and lacks intelligent processing.</a:t>
            </a:r>
          </a:p>
          <a:p>
            <a:pPr lvl="0" defTabSz="914400" eaLnBrk="0" fontAlgn="base" hangingPunct="0">
              <a:lnSpc>
                <a:spcPct val="150000"/>
              </a:lnSpc>
              <a:spcBef>
                <a:spcPct val="0"/>
              </a:spcBef>
              <a:spcAft>
                <a:spcPct val="0"/>
              </a:spcAft>
            </a:pPr>
            <a:endParaRPr lang="en-US" altLang="en-US" sz="2000" dirty="0">
              <a:solidFill>
                <a:schemeClr val="accent1">
                  <a:lumMod val="50000"/>
                </a:schemeClr>
              </a:solidFill>
              <a:latin typeface="Times New Roman" panose="02020603050405020304" pitchFamily="18" charset="0"/>
              <a:cs typeface="Times New Roman" panose="02020603050405020304" pitchFamily="18" charset="0"/>
            </a:endParaRPr>
          </a:p>
          <a:p>
            <a:pPr defTabSz="914400" eaLnBrk="0" fontAlgn="base" hangingPunct="0">
              <a:lnSpc>
                <a:spcPct val="150000"/>
              </a:lnSpc>
              <a:spcBef>
                <a:spcPct val="0"/>
              </a:spcBef>
              <a:spcAft>
                <a:spcPct val="0"/>
              </a:spcAft>
            </a:pPr>
            <a:r>
              <a:rPr lang="en-US" sz="2000" b="1" dirty="0">
                <a:latin typeface="Times New Roman" panose="02020603050405020304" pitchFamily="18" charset="0"/>
                <a:cs typeface="Times New Roman" pitchFamily="18" charset="0"/>
              </a:rPr>
              <a:t>Selected Base Paper</a:t>
            </a:r>
            <a:r>
              <a:rPr lang="en-US" sz="2000" dirty="0">
                <a:latin typeface="Times New Roman" panose="02020603050405020304" pitchFamily="18" charset="0"/>
                <a:cs typeface="Times New Roman" pitchFamily="18" charset="0"/>
              </a:rPr>
              <a:t>:</a:t>
            </a:r>
            <a:br>
              <a:rPr lang="en-US" sz="2000" dirty="0">
                <a:latin typeface="Times New Roman" panose="02020603050405020304" pitchFamily="18" charset="0"/>
                <a:cs typeface="Times New Roman" pitchFamily="18" charset="0"/>
              </a:rPr>
            </a:br>
            <a:r>
              <a:rPr lang="en-US" sz="2000" i="1" dirty="0">
                <a:latin typeface="Times New Roman" panose="02020603050405020304" pitchFamily="18" charset="0"/>
                <a:cs typeface="Times New Roman" pitchFamily="18" charset="0"/>
              </a:rPr>
              <a:t>“</a:t>
            </a:r>
            <a:r>
              <a:rPr lang="en-US" sz="2000" b="1" dirty="0">
                <a:solidFill>
                  <a:schemeClr val="accent1">
                    <a:lumMod val="50000"/>
                  </a:schemeClr>
                </a:solidFill>
                <a:latin typeface="Times New Roman" panose="02020603050405020304" pitchFamily="18" charset="0"/>
                <a:cs typeface="Times New Roman" panose="02020603050405020304" pitchFamily="18" charset="0"/>
              </a:rPr>
              <a:t>The retrieval of document images: a brief survey</a:t>
            </a:r>
            <a:r>
              <a:rPr lang="en-US" sz="2000" dirty="0">
                <a:latin typeface="Times New Roman" panose="02020603050405020304" pitchFamily="18" charset="0"/>
                <a:cs typeface="Times New Roman" panose="02020603050405020304" pitchFamily="18" charset="0"/>
              </a:rPr>
              <a:t>”: Doermann, D., “The Indexing and Retrieval of Document Images,” IEEE Computer. </a:t>
            </a:r>
            <a:r>
              <a:rPr lang="en-US" sz="2000" i="1" dirty="0">
                <a:latin typeface="Times New Roman" panose="02020603050405020304" pitchFamily="18" charset="0"/>
                <a:cs typeface="Times New Roman" pitchFamily="18" charset="0"/>
              </a:rPr>
              <a:t>“</a:t>
            </a:r>
          </a:p>
          <a:p>
            <a:pPr lvl="0" defTabSz="914400" eaLnBrk="0" fontAlgn="base" hangingPunct="0">
              <a:lnSpc>
                <a:spcPct val="150000"/>
              </a:lnSpc>
              <a:spcBef>
                <a:spcPct val="0"/>
              </a:spcBef>
              <a:spcAft>
                <a:spcPct val="0"/>
              </a:spcAft>
            </a:pPr>
            <a:endParaRPr lang="en-US" altLang="en-US" sz="1900" dirty="0">
              <a:solidFill>
                <a:schemeClr val="accent1">
                  <a:lumMod val="50000"/>
                </a:schemeClr>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IN" dirty="0">
              <a:solidFill>
                <a:schemeClr val="accent1">
                  <a:lumMod val="50000"/>
                </a:schemeClr>
              </a:solidFill>
            </a:endParaRPr>
          </a:p>
        </p:txBody>
      </p:sp>
    </p:spTree>
    <p:extLst>
      <p:ext uri="{BB962C8B-B14F-4D97-AF65-F5344CB8AC3E}">
        <p14:creationId xmlns:p14="http://schemas.microsoft.com/office/powerpoint/2010/main" val="2550501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Times New Roman" pitchFamily="18" charset="0"/>
                <a:cs typeface="Times New Roman" pitchFamily="18" charset="0"/>
              </a:rPr>
              <a:t>Limitations of Existing System</a:t>
            </a:r>
            <a:endParaRPr lang="en-IN" sz="2800" b="1" dirty="0"/>
          </a:p>
        </p:txBody>
      </p:sp>
      <p:sp>
        <p:nvSpPr>
          <p:cNvPr id="3" name="Content Placeholder 2"/>
          <p:cNvSpPr>
            <a:spLocks noGrp="1"/>
          </p:cNvSpPr>
          <p:nvPr>
            <p:ph idx="1"/>
          </p:nvPr>
        </p:nvSpPr>
        <p:spPr/>
        <p:txBody>
          <a:bodyPr>
            <a:normAutofit fontScale="25000" lnSpcReduction="20000"/>
          </a:bodyPr>
          <a:lstStyle/>
          <a:p>
            <a:pPr marL="0" indent="0" algn="just">
              <a:spcBef>
                <a:spcPts val="0"/>
              </a:spcBef>
              <a:buNone/>
            </a:pPr>
            <a:r>
              <a:rPr lang="en-US" sz="8000" b="1" dirty="0">
                <a:latin typeface="Times New Roman" panose="02020603050405020304" pitchFamily="18" charset="0"/>
                <a:cs typeface="Times New Roman" panose="02020603050405020304" pitchFamily="18" charset="0"/>
              </a:rPr>
              <a:t>Dependence on Text-Based Search</a:t>
            </a:r>
            <a:r>
              <a:rPr lang="en-US" sz="8000" dirty="0">
                <a:latin typeface="Times New Roman" panose="02020603050405020304" pitchFamily="18" charset="0"/>
                <a:cs typeface="Times New Roman" panose="02020603050405020304" pitchFamily="18" charset="0"/>
              </a:rPr>
              <a:t> – Existing systems rely on file names and keywords, which fails when documents are poorly named or unorganized.</a:t>
            </a:r>
          </a:p>
          <a:p>
            <a:pPr marL="0" indent="0" algn="just">
              <a:spcBef>
                <a:spcPts val="0"/>
              </a:spcBef>
              <a:buNone/>
            </a:pPr>
            <a:endParaRPr lang="en-US" sz="8000" dirty="0">
              <a:latin typeface="Times New Roman" panose="02020603050405020304" pitchFamily="18" charset="0"/>
              <a:cs typeface="Times New Roman" panose="02020603050405020304" pitchFamily="18" charset="0"/>
            </a:endParaRPr>
          </a:p>
          <a:p>
            <a:pPr marL="0" indent="0" algn="just">
              <a:spcBef>
                <a:spcPts val="0"/>
              </a:spcBef>
              <a:buNone/>
            </a:pPr>
            <a:r>
              <a:rPr lang="en-US" sz="8000" b="1" dirty="0">
                <a:latin typeface="Times New Roman" panose="02020603050405020304" pitchFamily="18" charset="0"/>
                <a:cs typeface="Times New Roman" panose="02020603050405020304" pitchFamily="18" charset="0"/>
              </a:rPr>
              <a:t>OCR Limitations on Low-Quality Documents</a:t>
            </a:r>
            <a:r>
              <a:rPr lang="en-US" sz="8000" dirty="0">
                <a:latin typeface="Times New Roman" panose="02020603050405020304" pitchFamily="18" charset="0"/>
                <a:cs typeface="Times New Roman" panose="02020603050405020304" pitchFamily="18" charset="0"/>
              </a:rPr>
              <a:t> – OCR-only approaches struggle with noisy, rotated, or low-resolution scanned documents, leading to inaccurate retrieval.</a:t>
            </a:r>
          </a:p>
          <a:p>
            <a:pPr marL="0" indent="0" algn="just">
              <a:spcBef>
                <a:spcPts val="0"/>
              </a:spcBef>
              <a:buNone/>
            </a:pPr>
            <a:endParaRPr lang="en-US" sz="8000" dirty="0">
              <a:latin typeface="Times New Roman" panose="02020603050405020304" pitchFamily="18" charset="0"/>
              <a:cs typeface="Times New Roman" panose="02020603050405020304" pitchFamily="18" charset="0"/>
            </a:endParaRPr>
          </a:p>
          <a:p>
            <a:pPr marL="0" indent="0" algn="just">
              <a:spcBef>
                <a:spcPts val="0"/>
              </a:spcBef>
              <a:buNone/>
            </a:pPr>
            <a:r>
              <a:rPr lang="en-US" sz="8000" b="1" dirty="0">
                <a:latin typeface="Times New Roman" panose="02020603050405020304" pitchFamily="18" charset="0"/>
                <a:cs typeface="Times New Roman" panose="02020603050405020304" pitchFamily="18" charset="0"/>
              </a:rPr>
              <a:t>High Computational Cost</a:t>
            </a:r>
            <a:r>
              <a:rPr lang="en-US" sz="8000" dirty="0">
                <a:latin typeface="Times New Roman" panose="02020603050405020304" pitchFamily="18" charset="0"/>
                <a:cs typeface="Times New Roman" panose="02020603050405020304" pitchFamily="18" charset="0"/>
              </a:rPr>
              <a:t> – Deep-learning-based document retrieval systems require high processing power and memory, making them unsuitable for low-end or personal systems.</a:t>
            </a:r>
          </a:p>
          <a:p>
            <a:pPr marL="0" indent="0" algn="just">
              <a:spcBef>
                <a:spcPts val="0"/>
              </a:spcBef>
              <a:buNone/>
            </a:pPr>
            <a:endParaRPr lang="en-US" sz="8000" dirty="0">
              <a:latin typeface="Times New Roman" panose="02020603050405020304" pitchFamily="18" charset="0"/>
              <a:cs typeface="Times New Roman" panose="02020603050405020304" pitchFamily="18" charset="0"/>
            </a:endParaRPr>
          </a:p>
          <a:p>
            <a:pPr marL="0" indent="0" algn="just">
              <a:spcBef>
                <a:spcPts val="0"/>
              </a:spcBef>
              <a:buNone/>
            </a:pPr>
            <a:r>
              <a:rPr lang="en-US" sz="8000" b="1" dirty="0">
                <a:latin typeface="Times New Roman" panose="02020603050405020304" pitchFamily="18" charset="0"/>
                <a:cs typeface="Times New Roman" panose="02020603050405020304" pitchFamily="18" charset="0"/>
              </a:rPr>
              <a:t>Lack of Semantic Understanding</a:t>
            </a:r>
            <a:r>
              <a:rPr lang="en-US" sz="8000" dirty="0">
                <a:latin typeface="Times New Roman" panose="02020603050405020304" pitchFamily="18" charset="0"/>
                <a:cs typeface="Times New Roman" panose="02020603050405020304" pitchFamily="18" charset="0"/>
              </a:rPr>
              <a:t> – Traditional systems cannot understand document context or meaning, limiting accurate document classification and retrieval.</a:t>
            </a:r>
          </a:p>
          <a:p>
            <a:pPr marL="0" indent="0" algn="just">
              <a:spcBef>
                <a:spcPts val="0"/>
              </a:spcBef>
              <a:buNone/>
            </a:pPr>
            <a:endParaRPr lang="en-US" sz="8000" dirty="0">
              <a:latin typeface="Times New Roman" panose="02020603050405020304" pitchFamily="18" charset="0"/>
              <a:cs typeface="Times New Roman" panose="02020603050405020304" pitchFamily="18" charset="0"/>
            </a:endParaRPr>
          </a:p>
          <a:p>
            <a:pPr marL="0" indent="0" algn="just">
              <a:spcBef>
                <a:spcPts val="0"/>
              </a:spcBef>
              <a:buNone/>
            </a:pPr>
            <a:r>
              <a:rPr lang="en-US" sz="8000" b="1" dirty="0">
                <a:latin typeface="Times New Roman" panose="02020603050405020304" pitchFamily="18" charset="0"/>
                <a:cs typeface="Times New Roman" panose="02020603050405020304" pitchFamily="18" charset="0"/>
              </a:rPr>
              <a:t>Slow Retrieval and Poor Scalability</a:t>
            </a:r>
            <a:r>
              <a:rPr lang="en-US" sz="8000" dirty="0">
                <a:latin typeface="Times New Roman" panose="02020603050405020304" pitchFamily="18" charset="0"/>
                <a:cs typeface="Times New Roman" panose="02020603050405020304" pitchFamily="18" charset="0"/>
              </a:rPr>
              <a:t> – As the document database grows, search time increases, resulting in slow response and reduced usability.</a:t>
            </a:r>
          </a:p>
          <a:p>
            <a:pPr marL="0" indent="0">
              <a:spcBef>
                <a:spcPts val="0"/>
              </a:spcBef>
              <a:buNone/>
            </a:pPr>
            <a:endParaRPr lang="en-US" sz="2000" dirty="0">
              <a:solidFill>
                <a:srgbClr val="000000"/>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rgbClr val="000000"/>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r>
              <a:rPr lang="en-US" sz="2000" b="1" dirty="0">
                <a:solidFill>
                  <a:schemeClr val="tx2"/>
                </a:solidFill>
                <a:latin typeface="Times New Roman" pitchFamily="18" charset="0"/>
                <a:cs typeface="Times New Roman" pitchFamily="18" charset="0"/>
              </a:rPr>
              <a:t> </a:t>
            </a: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0" indent="0">
              <a:spcBef>
                <a:spcPts val="0"/>
              </a:spcBef>
              <a:buNone/>
            </a:pPr>
            <a:endParaRPr lang="en-US" sz="2000" dirty="0">
              <a:solidFill>
                <a:schemeClr val="tx2"/>
              </a:solidFill>
              <a:latin typeface="Times New Roman" pitchFamily="18" charset="0"/>
              <a:cs typeface="Times New Roman" pitchFamily="18" charset="0"/>
            </a:endParaRPr>
          </a:p>
          <a:p>
            <a:pPr marL="114300" indent="0">
              <a:buNone/>
            </a:pPr>
            <a:r>
              <a:rPr lang="en-US" sz="2000" b="1" dirty="0">
                <a:solidFill>
                  <a:srgbClr val="000000"/>
                </a:solidFill>
                <a:latin typeface="Times New Roman" pitchFamily="18" charset="0"/>
                <a:cs typeface="Times New Roman" pitchFamily="18" charset="0"/>
              </a:rPr>
              <a:t> </a:t>
            </a:r>
          </a:p>
          <a:p>
            <a:pPr marL="114300" indent="0">
              <a:buNone/>
            </a:pPr>
            <a:r>
              <a:rPr lang="en-US" sz="2000" b="1" dirty="0">
                <a:solidFill>
                  <a:srgbClr val="000000"/>
                </a:solidFill>
                <a:latin typeface="Times New Roman" pitchFamily="18" charset="0"/>
                <a:cs typeface="Times New Roman" pitchFamily="18" charset="0"/>
              </a:rPr>
              <a:t>	</a:t>
            </a:r>
          </a:p>
          <a:p>
            <a:endParaRPr lang="en-IN" dirty="0"/>
          </a:p>
        </p:txBody>
      </p:sp>
    </p:spTree>
    <p:extLst>
      <p:ext uri="{BB962C8B-B14F-4D97-AF65-F5344CB8AC3E}">
        <p14:creationId xmlns:p14="http://schemas.microsoft.com/office/powerpoint/2010/main" val="2070691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A36B9-D7F7-D2F1-7928-0F771CFD664F}"/>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Overcoming drawbacks of Existing System</a:t>
            </a:r>
          </a:p>
        </p:txBody>
      </p:sp>
      <p:sp>
        <p:nvSpPr>
          <p:cNvPr id="3" name="Content Placeholder 2">
            <a:extLst>
              <a:ext uri="{FF2B5EF4-FFF2-40B4-BE49-F238E27FC236}">
                <a16:creationId xmlns:a16="http://schemas.microsoft.com/office/drawing/2014/main" id="{8464503A-7098-8D80-3558-48BB60DE3D29}"/>
              </a:ext>
            </a:extLst>
          </p:cNvPr>
          <p:cNvSpPr>
            <a:spLocks noGrp="1"/>
          </p:cNvSpPr>
          <p:nvPr>
            <p:ph idx="1"/>
          </p:nvPr>
        </p:nvSpPr>
        <p:spPr/>
        <p:txBody>
          <a:bodyPr>
            <a:normAutofit/>
          </a:bodyPr>
          <a:lstStyle/>
          <a:p>
            <a:pPr marL="114300" indent="0">
              <a:buNone/>
            </a:pPr>
            <a:r>
              <a:rPr lang="en-IN" sz="2000" b="1" dirty="0">
                <a:latin typeface="Times New Roman" panose="02020603050405020304" pitchFamily="18" charset="0"/>
                <a:cs typeface="Times New Roman" panose="02020603050405020304" pitchFamily="18" charset="0"/>
              </a:rPr>
              <a:t>Limited Search Capability - Smart Search</a:t>
            </a:r>
          </a:p>
          <a:p>
            <a:r>
              <a:rPr lang="en-US" altLang="en-US" sz="2000" dirty="0">
                <a:latin typeface="Times New Roman" panose="02020603050405020304" pitchFamily="18" charset="0"/>
                <a:cs typeface="Times New Roman" panose="02020603050405020304" pitchFamily="18" charset="0"/>
              </a:rPr>
              <a:t>Traditional systems rely on filenames or keywords </a:t>
            </a:r>
          </a:p>
          <a:p>
            <a:r>
              <a:rPr lang="en-US" altLang="en-US" sz="2000" dirty="0" err="1">
                <a:latin typeface="Times New Roman" panose="02020603050405020304" pitchFamily="18" charset="0"/>
                <a:cs typeface="Times New Roman" panose="02020603050405020304" pitchFamily="18" charset="0"/>
              </a:rPr>
              <a:t>SmartDoc</a:t>
            </a:r>
            <a:r>
              <a:rPr lang="en-US" altLang="en-US" sz="2000" dirty="0">
                <a:latin typeface="Times New Roman" panose="02020603050405020304" pitchFamily="18" charset="0"/>
                <a:cs typeface="Times New Roman" panose="02020603050405020304" pitchFamily="18" charset="0"/>
              </a:rPr>
              <a:t> enables text-based + visual similarity search </a:t>
            </a:r>
          </a:p>
          <a:p>
            <a:pPr marL="114300" indent="0">
              <a:buNone/>
            </a:pPr>
            <a:r>
              <a:rPr lang="en-US" sz="2000" b="1" dirty="0">
                <a:latin typeface="Times New Roman" panose="02020603050405020304" pitchFamily="18" charset="0"/>
                <a:cs typeface="Times New Roman" panose="02020603050405020304" pitchFamily="18" charset="0"/>
              </a:rPr>
              <a:t>Scanned Documents Not Searchable - OCR Support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Existing systems cannot read image text </a:t>
            </a:r>
          </a:p>
          <a:p>
            <a:r>
              <a:rPr lang="en-US" sz="2000" dirty="0" err="1">
                <a:latin typeface="Times New Roman" panose="02020603050405020304" pitchFamily="18" charset="0"/>
                <a:cs typeface="Times New Roman" panose="02020603050405020304" pitchFamily="18" charset="0"/>
              </a:rPr>
              <a:t>SmartDoc</a:t>
            </a:r>
            <a:r>
              <a:rPr lang="en-US" sz="2000" dirty="0">
                <a:latin typeface="Times New Roman" panose="02020603050405020304" pitchFamily="18" charset="0"/>
                <a:cs typeface="Times New Roman" panose="02020603050405020304" pitchFamily="18" charset="0"/>
              </a:rPr>
              <a:t> uses OCR (Tesseract) to extract searchable text</a:t>
            </a:r>
          </a:p>
          <a:p>
            <a:pPr marL="114300" indent="0">
              <a:buNone/>
            </a:pPr>
            <a:r>
              <a:rPr lang="en-IN" sz="2000" b="1" dirty="0">
                <a:latin typeface="Times New Roman" panose="02020603050405020304" pitchFamily="18" charset="0"/>
                <a:cs typeface="Times New Roman" panose="02020603050405020304" pitchFamily="18" charset="0"/>
              </a:rPr>
              <a:t>Cloud Dependency → Fully Offline System</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Existing systems depend on internet/cloud </a:t>
            </a:r>
          </a:p>
          <a:p>
            <a:r>
              <a:rPr lang="en-IN" sz="2000" dirty="0" err="1">
                <a:latin typeface="Times New Roman" panose="02020603050405020304" pitchFamily="18" charset="0"/>
                <a:cs typeface="Times New Roman" panose="02020603050405020304" pitchFamily="18" charset="0"/>
              </a:rPr>
              <a:t>SmartDoc</a:t>
            </a:r>
            <a:r>
              <a:rPr lang="en-IN" sz="2000" dirty="0">
                <a:latin typeface="Times New Roman" panose="02020603050405020304" pitchFamily="18" charset="0"/>
                <a:cs typeface="Times New Roman" panose="02020603050405020304" pitchFamily="18" charset="0"/>
              </a:rPr>
              <a:t> works completely offline, ensuring privacy</a:t>
            </a:r>
          </a:p>
          <a:p>
            <a:pPr marL="114300" indent="0">
              <a:buNone/>
            </a:pPr>
            <a:r>
              <a:rPr lang="en-US" sz="2000" b="1" dirty="0">
                <a:latin typeface="Times New Roman" panose="02020603050405020304" pitchFamily="18" charset="0"/>
                <a:cs typeface="Times New Roman" panose="02020603050405020304" pitchFamily="18" charset="0"/>
              </a:rPr>
              <a:t>Manual Processing → Automation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Manual document handling is time-consuming </a:t>
            </a:r>
          </a:p>
          <a:p>
            <a:r>
              <a:rPr lang="en-US" sz="2000" dirty="0" err="1">
                <a:latin typeface="Times New Roman" panose="02020603050405020304" pitchFamily="18" charset="0"/>
                <a:cs typeface="Times New Roman" panose="02020603050405020304" pitchFamily="18" charset="0"/>
              </a:rPr>
              <a:t>SmartDoc</a:t>
            </a:r>
            <a:r>
              <a:rPr lang="en-US" sz="2000" dirty="0">
                <a:latin typeface="Times New Roman" panose="02020603050405020304" pitchFamily="18" charset="0"/>
                <a:cs typeface="Times New Roman" panose="02020603050405020304" pitchFamily="18" charset="0"/>
              </a:rPr>
              <a:t> automates indexing and processing</a:t>
            </a:r>
          </a:p>
          <a:p>
            <a:pPr marL="114300" indent="0">
              <a:buNone/>
            </a:pPr>
            <a:endParaRPr lang="en-IN" sz="2000" dirty="0">
              <a:latin typeface="Times New Roman" panose="02020603050405020304" pitchFamily="18" charset="0"/>
              <a:cs typeface="Times New Roman" panose="02020603050405020304" pitchFamily="18" charset="0"/>
            </a:endParaRPr>
          </a:p>
          <a:p>
            <a:pPr marL="114300" indent="0">
              <a:buNone/>
            </a:pPr>
            <a:endParaRPr lang="en-US" sz="2000" dirty="0">
              <a:latin typeface="Times New Roman" panose="02020603050405020304" pitchFamily="18" charset="0"/>
              <a:cs typeface="Times New Roman" panose="02020603050405020304" pitchFamily="18" charset="0"/>
            </a:endParaRPr>
          </a:p>
          <a:p>
            <a:pPr marL="11430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3584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0E18-B1FC-E2EA-E781-357597EA8B0D}"/>
              </a:ext>
            </a:extLst>
          </p:cNvPr>
          <p:cNvSpPr>
            <a:spLocks noGrp="1"/>
          </p:cNvSpPr>
          <p:nvPr>
            <p:ph type="title"/>
          </p:nvPr>
        </p:nvSpPr>
        <p:spPr/>
        <p:txBody>
          <a:bodyPr/>
          <a:lstStyle/>
          <a:p>
            <a:r>
              <a:rPr lang="en-IN" sz="2800" b="1" dirty="0">
                <a:latin typeface="Times New Roman" pitchFamily="18" charset="0"/>
                <a:cs typeface="Times New Roman" pitchFamily="18" charset="0"/>
              </a:rPr>
              <a:t>Proposed System</a:t>
            </a:r>
            <a:endParaRPr lang="en-US"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F369D36-CF53-A692-66F0-583AE9D0A1FE}"/>
              </a:ext>
            </a:extLst>
          </p:cNvPr>
          <p:cNvSpPr>
            <a:spLocks noGrp="1"/>
          </p:cNvSpPr>
          <p:nvPr>
            <p:ph idx="1"/>
          </p:nvPr>
        </p:nvSpPr>
        <p:spPr>
          <a:xfrm>
            <a:off x="582084" y="1346201"/>
            <a:ext cx="10079566" cy="4718049"/>
          </a:xfrm>
        </p:spPr>
        <p:txBody>
          <a:bodyPr vert="horz" lIns="91440" tIns="45720" rIns="91440" bIns="45720" rtlCol="0" anchor="t">
            <a:normAutofit/>
          </a:bodyPr>
          <a:lstStyle/>
          <a:p>
            <a:pPr algn="just"/>
            <a:r>
              <a:rPr lang="en-US" sz="2000" dirty="0">
                <a:latin typeface="Times New Roman" panose="02020603050405020304" pitchFamily="18" charset="0"/>
                <a:cs typeface="Times New Roman" panose="02020603050405020304" pitchFamily="18" charset="0"/>
              </a:rPr>
              <a:t>Our project introduces an AI-assisted image-based document retrieval system that enables users to efficiently locate government and personal documents using reference images.</a:t>
            </a:r>
          </a:p>
          <a:p>
            <a:pPr algn="just"/>
            <a:r>
              <a:rPr lang="en-US" sz="2000" dirty="0">
                <a:latin typeface="Times New Roman" panose="02020603050405020304" pitchFamily="18" charset="0"/>
                <a:cs typeface="Times New Roman" panose="02020603050405020304" pitchFamily="18" charset="0"/>
              </a:rPr>
              <a:t>The system extracts lightweight visual features from document images and performs similarity matching to retrieve the most relevant documents with high accuracy.</a:t>
            </a:r>
          </a:p>
          <a:p>
            <a:pPr algn="just"/>
            <a:r>
              <a:rPr lang="en-US" sz="2000" dirty="0">
                <a:latin typeface="Times New Roman" panose="02020603050405020304" pitchFamily="18" charset="0"/>
                <a:cs typeface="Times New Roman" panose="02020603050405020304" pitchFamily="18" charset="0"/>
              </a:rPr>
              <a:t>OCR is used to automatically extract textual content from scanned documents, eliminating the need for manual document labeling and organization.</a:t>
            </a:r>
          </a:p>
          <a:p>
            <a:pPr algn="just"/>
            <a:r>
              <a:rPr lang="en-US" sz="2000" dirty="0">
                <a:latin typeface="Times New Roman" panose="02020603050405020304" pitchFamily="18" charset="0"/>
                <a:cs typeface="Times New Roman" panose="02020603050405020304" pitchFamily="18" charset="0"/>
              </a:rPr>
              <a:t>A Large Language Model (LLM) processes the extracted text to generate semantic labels and concise summaries, improving document understanding and classification.</a:t>
            </a:r>
          </a:p>
          <a:p>
            <a:pPr algn="just"/>
            <a:r>
              <a:rPr lang="en-US" sz="2000" dirty="0">
                <a:latin typeface="Times New Roman" panose="02020603050405020304" pitchFamily="18" charset="0"/>
                <a:cs typeface="Times New Roman" panose="02020603050405020304" pitchFamily="18" charset="0"/>
              </a:rPr>
              <a:t>The system supports retrieval of multiple document types such as Aadhaar cards, PAN cards, certificates, and invoices.</a:t>
            </a:r>
          </a:p>
          <a:p>
            <a:pPr algn="just"/>
            <a:r>
              <a:rPr lang="en-US" sz="2000" dirty="0">
                <a:latin typeface="Times New Roman" panose="02020603050405020304" pitchFamily="18" charset="0"/>
                <a:cs typeface="Times New Roman" panose="02020603050405020304" pitchFamily="18" charset="0"/>
              </a:rPr>
              <a:t>A user-friendly interface allows users to upload document images easily and receive fast, accurate retrieval results along with file locations.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1283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985F5-7760-5E5B-03E1-6F64971CE457}"/>
              </a:ext>
            </a:extLst>
          </p:cNvPr>
          <p:cNvSpPr>
            <a:spLocks noGrp="1"/>
          </p:cNvSpPr>
          <p:nvPr>
            <p:ph type="title"/>
          </p:nvPr>
        </p:nvSpPr>
        <p:spPr>
          <a:xfrm>
            <a:off x="677334" y="609600"/>
            <a:ext cx="8596668" cy="514627"/>
          </a:xfrm>
        </p:spPr>
        <p:txBody>
          <a:bodyPr>
            <a:noAutofit/>
          </a:bodyPr>
          <a:lstStyle/>
          <a:p>
            <a:r>
              <a:rPr lang="en-IN" sz="2800" b="1" dirty="0">
                <a:latin typeface="Times New Roman" panose="02020603050405020304" pitchFamily="18" charset="0"/>
                <a:cs typeface="Times New Roman" pitchFamily="18" charset="0"/>
              </a:rPr>
              <a:t>Advantages of Proposed System</a:t>
            </a:r>
            <a:endParaRPr lang="en-US" sz="28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66094A81-90CC-AC03-BE86-A3605C7802A7}"/>
              </a:ext>
            </a:extLst>
          </p:cNvPr>
          <p:cNvSpPr>
            <a:spLocks noGrp="1"/>
          </p:cNvSpPr>
          <p:nvPr>
            <p:ph idx="1"/>
          </p:nvPr>
        </p:nvSpPr>
        <p:spPr>
          <a:xfrm>
            <a:off x="342900" y="1243981"/>
            <a:ext cx="10820400" cy="5183902"/>
          </a:xfrm>
        </p:spPr>
        <p:txBody>
          <a:bodyPr vert="horz" lIns="91440" tIns="45720" rIns="91440" bIns="45720" rtlCol="0" anchor="t">
            <a:normAutofit/>
          </a:bodyPr>
          <a:lstStyle/>
          <a:p>
            <a:pPr>
              <a:buFont typeface="Wingdings" charset="2"/>
              <a:buChar char="ü"/>
            </a:pPr>
            <a:r>
              <a:rPr lang="en-US" sz="2000" b="1" dirty="0">
                <a:latin typeface="Times New Roman" panose="02020603050405020304" pitchFamily="18" charset="0"/>
                <a:cs typeface="Times New Roman" panose="02020603050405020304" pitchFamily="18" charset="0"/>
              </a:rPr>
              <a:t>High Accuracy in Document Retrieval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image-based similarity matching approach enables accurate retrieval of documents even when file names or textual metadata are missing or inconsistent.</a:t>
            </a:r>
          </a:p>
          <a:p>
            <a:pPr>
              <a:buFont typeface="Wingdings" charset="2"/>
              <a:buChar char="ü"/>
            </a:pPr>
            <a:r>
              <a:rPr lang="en-US" sz="2000" b="1" dirty="0">
                <a:latin typeface="Times New Roman" panose="02020603050405020304" pitchFamily="18" charset="0"/>
                <a:cs typeface="Times New Roman" panose="02020603050405020304" pitchFamily="18" charset="0"/>
              </a:rPr>
              <a:t>Efficient Visual Feature Extraction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Lightweight image feature extraction ensures reliable matching across variations in document orientation, scale, and quality without using heavy deep-learning models.</a:t>
            </a:r>
          </a:p>
          <a:p>
            <a:pPr>
              <a:buFont typeface="Wingdings" charset="2"/>
              <a:buChar char="ü"/>
            </a:pPr>
            <a:r>
              <a:rPr lang="en-US" sz="2000" b="1" dirty="0">
                <a:latin typeface="Times New Roman" panose="02020603050405020304" pitchFamily="18" charset="0"/>
                <a:cs typeface="Times New Roman" panose="02020603050405020304" pitchFamily="18" charset="0"/>
              </a:rPr>
              <a:t>Fast Response and Resource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By avoiding computationally intensive models, the system operates efficiently on standard desktop systems with minimal memory and processing requirements.</a:t>
            </a:r>
          </a:p>
          <a:p>
            <a:pPr>
              <a:buFont typeface="Wingdings" charset="2"/>
              <a:buChar char="ü"/>
            </a:pPr>
            <a:r>
              <a:rPr lang="en-US" sz="2000" b="1" dirty="0">
                <a:latin typeface="Times New Roman" panose="02020603050405020304" pitchFamily="18" charset="0"/>
                <a:cs typeface="Times New Roman" panose="02020603050405020304" pitchFamily="18" charset="0"/>
              </a:rPr>
              <a:t>Enhanced Semantic Understanding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integration of OCR with a Large Language Model generates meaningful semantic labels and summaries, improving document classification and retrieval accuracy.</a:t>
            </a:r>
          </a:p>
          <a:p>
            <a:pPr>
              <a:buFont typeface="Wingdings" charset="2"/>
              <a:buChar char="ü"/>
            </a:pPr>
            <a:r>
              <a:rPr lang="en-US" sz="2000" b="1" dirty="0">
                <a:latin typeface="Times New Roman" panose="02020603050405020304" pitchFamily="18" charset="0"/>
                <a:cs typeface="Times New Roman" panose="02020603050405020304" pitchFamily="18" charset="0"/>
              </a:rPr>
              <a:t>Scalable and Easy to Extend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can be easily scaled to support new document types and expanded datasets, making it suitable for long-term personal, institutional, and administrative use.</a:t>
            </a:r>
            <a:endParaRPr lang="en-IN" dirty="0">
              <a:latin typeface="Times New Roman" panose="02020603050405020304" pitchFamily="18" charset="0"/>
              <a:ea typeface="+mn-lt"/>
              <a:cs typeface="Times New Roman" panose="02020603050405020304" pitchFamily="18" charset="0"/>
            </a:endParaRPr>
          </a:p>
        </p:txBody>
      </p:sp>
    </p:spTree>
    <p:extLst>
      <p:ext uri="{BB962C8B-B14F-4D97-AF65-F5344CB8AC3E}">
        <p14:creationId xmlns:p14="http://schemas.microsoft.com/office/powerpoint/2010/main" val="3525646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CD742-0702-26D9-31C5-2512B5C30963}"/>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Dataset Description</a:t>
            </a:r>
          </a:p>
        </p:txBody>
      </p:sp>
      <p:sp>
        <p:nvSpPr>
          <p:cNvPr id="4" name="Rectangle 1">
            <a:extLst>
              <a:ext uri="{FF2B5EF4-FFF2-40B4-BE49-F238E27FC236}">
                <a16:creationId xmlns:a16="http://schemas.microsoft.com/office/drawing/2014/main" id="{4C733C6D-808D-E6F4-D3EC-281D7CB9DB49}"/>
              </a:ext>
            </a:extLst>
          </p:cNvPr>
          <p:cNvSpPr>
            <a:spLocks noGrp="1" noChangeArrowheads="1"/>
          </p:cNvSpPr>
          <p:nvPr>
            <p:ph idx="1"/>
          </p:nvPr>
        </p:nvSpPr>
        <p:spPr bwMode="auto">
          <a:xfrm>
            <a:off x="609600" y="1181459"/>
            <a:ext cx="8888361"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342900"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No public dataset used.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contains scanned personal and government documents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(Aadhaar, PAN, certificates, ID proofs, invoices).</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Stored in image formats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JPG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varying resolutions and quality levels to simulate real-world conditions.</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Contains both camera-captured and scanner-based documents.</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Documents include printed text, logos, stamps, and signatures.</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fixed naming convention (represents unorganized storage).</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OCR used to extract textual content from images.</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features generated for image similarity matching.</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evaluate:</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Document retrieval accuracy</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OCR performance</a:t>
            </a:r>
          </a:p>
          <a:p>
            <a:pPr marR="0" lvl="0" indent="-342900"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response time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894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87E12-3AEF-3A93-DA86-6DA5C33DEC41}"/>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19BB537E-5C42-DC16-4E81-26BAFF786E91}"/>
              </a:ext>
            </a:extLst>
          </p:cNvPr>
          <p:cNvSpPr>
            <a:spLocks noGrp="1"/>
          </p:cNvSpPr>
          <p:nvPr>
            <p:ph idx="1"/>
          </p:nvPr>
        </p:nvSpPr>
        <p:spPr>
          <a:xfrm>
            <a:off x="609599" y="1600200"/>
            <a:ext cx="10533017" cy="4800600"/>
          </a:xfrm>
        </p:spPr>
        <p:txBody>
          <a:bodyPr>
            <a:normAutofit/>
          </a:bodyPr>
          <a:lstStyle/>
          <a:p>
            <a:pPr marL="114300" indent="0">
              <a:buNone/>
            </a:pPr>
            <a:r>
              <a:rPr lang="en-IN" sz="2000" b="1" u="sng" dirty="0">
                <a:latin typeface="Times New Roman" panose="02020603050405020304" pitchFamily="18" charset="0"/>
                <a:cs typeface="Times New Roman" panose="02020603050405020304" pitchFamily="18" charset="0"/>
              </a:rPr>
              <a:t>The system shall perform the following functions</a:t>
            </a:r>
            <a:r>
              <a:rPr lang="en-IN" sz="2000" dirty="0">
                <a:latin typeface="Times New Roman" panose="02020603050405020304" pitchFamily="18" charset="0"/>
                <a:cs typeface="Times New Roman" panose="02020603050405020304" pitchFamily="18" charset="0"/>
              </a:rPr>
              <a:t>: </a:t>
            </a:r>
          </a:p>
          <a:p>
            <a:pPr>
              <a:lnSpc>
                <a:spcPct val="150000"/>
              </a:lnSpc>
            </a:pPr>
            <a:r>
              <a:rPr lang="en-IN" sz="2000" dirty="0">
                <a:latin typeface="Times New Roman" panose="02020603050405020304" pitchFamily="18" charset="0"/>
                <a:cs typeface="Times New Roman" panose="02020603050405020304" pitchFamily="18" charset="0"/>
              </a:rPr>
              <a:t> Scan selected folders and discover new documents automatically </a:t>
            </a:r>
          </a:p>
          <a:p>
            <a:pPr>
              <a:lnSpc>
                <a:spcPct val="150000"/>
              </a:lnSpc>
            </a:pPr>
            <a:r>
              <a:rPr lang="en-IN" sz="2000" dirty="0">
                <a:latin typeface="Times New Roman" panose="02020603050405020304" pitchFamily="18" charset="0"/>
                <a:cs typeface="Times New Roman" panose="02020603050405020304" pitchFamily="18" charset="0"/>
              </a:rPr>
              <a:t> Extract visual features from documents using ORB algorithm </a:t>
            </a:r>
          </a:p>
          <a:p>
            <a:pPr>
              <a:lnSpc>
                <a:spcPct val="150000"/>
              </a:lnSpc>
            </a:pPr>
            <a:r>
              <a:rPr lang="en-IN" sz="2000" dirty="0">
                <a:latin typeface="Times New Roman" panose="02020603050405020304" pitchFamily="18" charset="0"/>
                <a:cs typeface="Times New Roman" panose="02020603050405020304" pitchFamily="18" charset="0"/>
              </a:rPr>
              <a:t> Perform OCR text extraction using Tesseract </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extracted text using Local LLM to generate: </a:t>
            </a:r>
          </a:p>
          <a:p>
            <a:pPr marL="114300" indent="0">
              <a:lnSpc>
                <a:spcPct val="150000"/>
              </a:lnSpc>
              <a:buNone/>
            </a:pPr>
            <a:r>
              <a:rPr lang="en-IN" sz="2000" dirty="0">
                <a:latin typeface="Times New Roman" panose="02020603050405020304" pitchFamily="18" charset="0"/>
                <a:cs typeface="Times New Roman" panose="02020603050405020304" pitchFamily="18" charset="0"/>
              </a:rPr>
              <a:t>	➢ Document labels </a:t>
            </a:r>
          </a:p>
          <a:p>
            <a:pPr marL="114300" indent="0">
              <a:lnSpc>
                <a:spcPct val="150000"/>
              </a:lnSpc>
              <a:buNone/>
            </a:pPr>
            <a:r>
              <a:rPr lang="en-IN" sz="2000" dirty="0">
                <a:latin typeface="Times New Roman" panose="02020603050405020304" pitchFamily="18" charset="0"/>
                <a:cs typeface="Times New Roman" panose="02020603050405020304" pitchFamily="18" charset="0"/>
              </a:rPr>
              <a:t>	➢ Short summaries </a:t>
            </a:r>
          </a:p>
          <a:p>
            <a:pPr marL="114300" indent="0">
              <a:lnSpc>
                <a:spcPct val="150000"/>
              </a:lnSpc>
              <a:buNone/>
            </a:pPr>
            <a:r>
              <a:rPr lang="en-IN" sz="2000" dirty="0">
                <a:latin typeface="Times New Roman" panose="02020603050405020304" pitchFamily="18" charset="0"/>
                <a:cs typeface="Times New Roman" panose="02020603050405020304" pitchFamily="18" charset="0"/>
              </a:rPr>
              <a:t>	➢ Metadata insights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2870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7DF4-2AA6-F8D0-8580-D723E64E22AF}"/>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10972475-F090-48F8-BBEA-18CAA92F4572}"/>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Store features, text, and metadata in SQLite database </a:t>
            </a:r>
          </a:p>
          <a:p>
            <a:pPr algn="just">
              <a:lnSpc>
                <a:spcPct val="150000"/>
              </a:lnSpc>
            </a:pPr>
            <a:r>
              <a:rPr lang="en-US" sz="2000" dirty="0">
                <a:latin typeface="Times New Roman" panose="02020603050405020304" pitchFamily="18" charset="0"/>
                <a:cs typeface="Times New Roman" panose="02020603050405020304" pitchFamily="18" charset="0"/>
              </a:rPr>
              <a:t>Accept a query image from the user through JavaFX interface </a:t>
            </a:r>
          </a:p>
          <a:p>
            <a:pPr algn="just">
              <a:lnSpc>
                <a:spcPct val="150000"/>
              </a:lnSpc>
            </a:pPr>
            <a:r>
              <a:rPr lang="en-US" sz="2000" dirty="0">
                <a:latin typeface="Times New Roman" panose="02020603050405020304" pitchFamily="18" charset="0"/>
                <a:cs typeface="Times New Roman" panose="02020603050405020304" pitchFamily="18" charset="0"/>
              </a:rPr>
              <a:t>Perform similarity matching and retrieve top relevant documents </a:t>
            </a:r>
          </a:p>
          <a:p>
            <a:pPr algn="just">
              <a:lnSpc>
                <a:spcPct val="150000"/>
              </a:lnSpc>
            </a:pPr>
            <a:r>
              <a:rPr lang="en-US" sz="2000" dirty="0">
                <a:latin typeface="Times New Roman" panose="02020603050405020304" pitchFamily="18" charset="0"/>
                <a:cs typeface="Times New Roman" panose="02020603050405020304" pitchFamily="18" charset="0"/>
              </a:rPr>
              <a:t>Display search results with file location and metadata </a:t>
            </a:r>
          </a:p>
          <a:p>
            <a:pPr algn="just">
              <a:lnSpc>
                <a:spcPct val="150000"/>
              </a:lnSpc>
            </a:pPr>
            <a:r>
              <a:rPr lang="en-US" sz="2000" dirty="0">
                <a:latin typeface="Times New Roman" panose="02020603050405020304" pitchFamily="18" charset="0"/>
                <a:cs typeface="Times New Roman" panose="02020603050405020304" pitchFamily="18" charset="0"/>
              </a:rPr>
              <a:t>Monitor folders in real time and trigger re-indexing on changes</a:t>
            </a:r>
          </a:p>
        </p:txBody>
      </p:sp>
    </p:spTree>
    <p:extLst>
      <p:ext uri="{BB962C8B-B14F-4D97-AF65-F5344CB8AC3E}">
        <p14:creationId xmlns:p14="http://schemas.microsoft.com/office/powerpoint/2010/main" val="555275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25A0D-AA56-9140-2676-2A9452FBCA5D}"/>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Non-Functional Requirements</a:t>
            </a:r>
          </a:p>
        </p:txBody>
      </p:sp>
      <p:sp>
        <p:nvSpPr>
          <p:cNvPr id="3" name="Content Placeholder 2">
            <a:extLst>
              <a:ext uri="{FF2B5EF4-FFF2-40B4-BE49-F238E27FC236}">
                <a16:creationId xmlns:a16="http://schemas.microsoft.com/office/drawing/2014/main" id="{E36D6A86-7203-439B-67C4-3CB09CF97F89}"/>
              </a:ext>
            </a:extLst>
          </p:cNvPr>
          <p:cNvSpPr>
            <a:spLocks noGrp="1"/>
          </p:cNvSpPr>
          <p:nvPr>
            <p:ph idx="1"/>
          </p:nvPr>
        </p:nvSpPr>
        <p:spPr/>
        <p:txBody>
          <a:bodyPr>
            <a:normAutofit/>
          </a:bodyPr>
          <a:lstStyle/>
          <a:p>
            <a:pPr marL="114300" indent="0" algn="just">
              <a:buNone/>
            </a:pPr>
            <a:r>
              <a:rPr lang="en-US" sz="2000" dirty="0">
                <a:latin typeface="Times New Roman" panose="02020603050405020304" pitchFamily="18" charset="0"/>
                <a:cs typeface="Times New Roman" panose="02020603050405020304" pitchFamily="18" charset="0"/>
              </a:rPr>
              <a:t>The system must satisfy the following quality requirements: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Performance</a:t>
            </a:r>
            <a:r>
              <a:rPr lang="en-US" sz="2000" dirty="0">
                <a:latin typeface="Times New Roman" panose="02020603050405020304" pitchFamily="18" charset="0"/>
                <a:cs typeface="Times New Roman" panose="02020603050405020304" pitchFamily="18" charset="0"/>
              </a:rPr>
              <a:t>: Document retrieval should be completed within a few seconds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Similarity matching must return relevant results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Usability</a:t>
            </a:r>
            <a:r>
              <a:rPr lang="en-US" sz="2000" dirty="0">
                <a:latin typeface="Times New Roman" panose="02020603050405020304" pitchFamily="18" charset="0"/>
                <a:cs typeface="Times New Roman" panose="02020603050405020304" pitchFamily="18" charset="0"/>
              </a:rPr>
              <a:t>: JavaFX interface should be simple and interactive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Reliability</a:t>
            </a:r>
            <a:r>
              <a:rPr lang="en-US" sz="2000" dirty="0">
                <a:latin typeface="Times New Roman" panose="02020603050405020304" pitchFamily="18" charset="0"/>
                <a:cs typeface="Times New Roman" panose="02020603050405020304" pitchFamily="18" charset="0"/>
              </a:rPr>
              <a:t>: System should work offline without internet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Should support increasing number of documents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Security</a:t>
            </a:r>
            <a:r>
              <a:rPr lang="en-US" sz="2000" dirty="0">
                <a:latin typeface="Times New Roman" panose="02020603050405020304" pitchFamily="18" charset="0"/>
                <a:cs typeface="Times New Roman" panose="02020603050405020304" pitchFamily="18" charset="0"/>
              </a:rPr>
              <a:t>: Local storage of documents and metadata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Maintainability</a:t>
            </a:r>
            <a:r>
              <a:rPr lang="en-US" sz="2000" dirty="0">
                <a:latin typeface="Times New Roman" panose="02020603050405020304" pitchFamily="18" charset="0"/>
                <a:cs typeface="Times New Roman" panose="02020603050405020304" pitchFamily="18" charset="0"/>
              </a:rPr>
              <a:t>: Modular architecture for easy upgrades </a:t>
            </a: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Portability</a:t>
            </a:r>
            <a:r>
              <a:rPr lang="en-US" sz="2000" dirty="0">
                <a:latin typeface="Times New Roman" panose="02020603050405020304" pitchFamily="18" charset="0"/>
                <a:cs typeface="Times New Roman" panose="02020603050405020304" pitchFamily="18" charset="0"/>
              </a:rPr>
              <a:t>: Should run on multiple operating systems</a:t>
            </a:r>
          </a:p>
        </p:txBody>
      </p:sp>
    </p:spTree>
    <p:extLst>
      <p:ext uri="{BB962C8B-B14F-4D97-AF65-F5344CB8AC3E}">
        <p14:creationId xmlns:p14="http://schemas.microsoft.com/office/powerpoint/2010/main" val="1170589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3D7B2-E0AA-09C5-24C2-715F721CDF46}"/>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Software Requirements</a:t>
            </a:r>
          </a:p>
        </p:txBody>
      </p:sp>
      <p:sp>
        <p:nvSpPr>
          <p:cNvPr id="3" name="Content Placeholder 2">
            <a:extLst>
              <a:ext uri="{FF2B5EF4-FFF2-40B4-BE49-F238E27FC236}">
                <a16:creationId xmlns:a16="http://schemas.microsoft.com/office/drawing/2014/main" id="{0B11181F-2E7D-9D7C-EA8C-2483DF165E96}"/>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 Linux / macOS </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Java </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User Interface</a:t>
            </a:r>
            <a:r>
              <a:rPr lang="en-IN" sz="2000" dirty="0">
                <a:latin typeface="Times New Roman" panose="02020603050405020304" pitchFamily="18" charset="0"/>
                <a:cs typeface="Times New Roman" panose="02020603050405020304" pitchFamily="18" charset="0"/>
              </a:rPr>
              <a:t>: JavaFX </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Image Processing</a:t>
            </a:r>
            <a:r>
              <a:rPr lang="en-IN" sz="2000" dirty="0">
                <a:latin typeface="Times New Roman" panose="02020603050405020304" pitchFamily="18" charset="0"/>
                <a:cs typeface="Times New Roman" panose="02020603050405020304" pitchFamily="18" charset="0"/>
              </a:rPr>
              <a:t>: OpenCV (ORB Feature Extraction) </a:t>
            </a:r>
          </a:p>
          <a:p>
            <a:r>
              <a:rPr lang="en-IN" sz="2000" b="1" dirty="0">
                <a:latin typeface="Times New Roman" panose="02020603050405020304" pitchFamily="18" charset="0"/>
                <a:cs typeface="Times New Roman" panose="02020603050405020304" pitchFamily="18" charset="0"/>
              </a:rPr>
              <a:t> OCR Engine</a:t>
            </a:r>
            <a:r>
              <a:rPr lang="en-IN" sz="2000" dirty="0">
                <a:latin typeface="Times New Roman" panose="02020603050405020304" pitchFamily="18" charset="0"/>
                <a:cs typeface="Times New Roman" panose="02020603050405020304" pitchFamily="18" charset="0"/>
              </a:rPr>
              <a:t>: Tesseract OCR </a:t>
            </a:r>
          </a:p>
          <a:p>
            <a:r>
              <a:rPr lang="en-IN" sz="2000" b="1" dirty="0">
                <a:latin typeface="Times New Roman" panose="02020603050405020304" pitchFamily="18" charset="0"/>
                <a:cs typeface="Times New Roman" panose="02020603050405020304" pitchFamily="18" charset="0"/>
              </a:rPr>
              <a:t> Language Processing</a:t>
            </a:r>
            <a:r>
              <a:rPr lang="en-IN" sz="2000" dirty="0">
                <a:latin typeface="Times New Roman" panose="02020603050405020304" pitchFamily="18" charset="0"/>
                <a:cs typeface="Times New Roman" panose="02020603050405020304" pitchFamily="18" charset="0"/>
              </a:rPr>
              <a:t>: Local LLM for document analysis </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Database</a:t>
            </a:r>
            <a:r>
              <a:rPr lang="en-IN" sz="2000" dirty="0">
                <a:latin typeface="Times New Roman" panose="02020603050405020304" pitchFamily="18" charset="0"/>
                <a:cs typeface="Times New Roman" panose="02020603050405020304" pitchFamily="18" charset="0"/>
              </a:rPr>
              <a:t>: SQLite </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Development Tools</a:t>
            </a:r>
            <a:r>
              <a:rPr lang="en-IN" sz="2000" dirty="0">
                <a:latin typeface="Times New Roman" panose="02020603050405020304" pitchFamily="18" charset="0"/>
                <a:cs typeface="Times New Roman" panose="02020603050405020304" pitchFamily="18" charset="0"/>
              </a:rPr>
              <a:t>: IntelliJ IDEA / Eclipse / VS Code </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Build Tool</a:t>
            </a:r>
            <a:r>
              <a:rPr lang="en-IN" sz="2000" dirty="0">
                <a:latin typeface="Times New Roman" panose="02020603050405020304" pitchFamily="18" charset="0"/>
                <a:cs typeface="Times New Roman" panose="02020603050405020304" pitchFamily="18" charset="0"/>
              </a:rPr>
              <a:t>: Maven/Gradle </a:t>
            </a:r>
          </a:p>
        </p:txBody>
      </p:sp>
    </p:spTree>
    <p:extLst>
      <p:ext uri="{BB962C8B-B14F-4D97-AF65-F5344CB8AC3E}">
        <p14:creationId xmlns:p14="http://schemas.microsoft.com/office/powerpoint/2010/main" val="1866332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F25F-9DEC-4A7D-72F6-4118A8B37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08080-A241-CB94-6CC0-23E3F20A16DA}"/>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Hardware Requirements</a:t>
            </a:r>
          </a:p>
        </p:txBody>
      </p:sp>
      <p:sp>
        <p:nvSpPr>
          <p:cNvPr id="3" name="Content Placeholder 2">
            <a:extLst>
              <a:ext uri="{FF2B5EF4-FFF2-40B4-BE49-F238E27FC236}">
                <a16:creationId xmlns:a16="http://schemas.microsoft.com/office/drawing/2014/main" id="{1BA2F5A7-4F11-5CAF-80A9-DAE6A32823F9}"/>
              </a:ext>
            </a:extLst>
          </p:cNvPr>
          <p:cNvSpPr>
            <a:spLocks noGrp="1"/>
          </p:cNvSpPr>
          <p:nvPr>
            <p:ph idx="1"/>
          </p:nvPr>
        </p:nvSpPr>
        <p:spPr/>
        <p:txBody>
          <a:bodyPr>
            <a:normAutofit/>
          </a:bodyPr>
          <a:lstStyle/>
          <a:p>
            <a:pPr marL="114300" indent="0">
              <a:buNone/>
            </a:pPr>
            <a:r>
              <a:rPr lang="en-US" sz="2000" dirty="0">
                <a:latin typeface="Times New Roman" panose="02020603050405020304" pitchFamily="18" charset="0"/>
                <a:cs typeface="Times New Roman" panose="02020603050405020304" pitchFamily="18" charset="0"/>
              </a:rPr>
              <a:t>The minimum hardware configuration required to run the system is as follows:</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Intel i3 or above </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4 GB minimum (8 GB recommended) </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Hard Disk</a:t>
            </a:r>
            <a:r>
              <a:rPr lang="en-US" sz="2000" dirty="0">
                <a:latin typeface="Times New Roman" panose="02020603050405020304" pitchFamily="18" charset="0"/>
                <a:cs typeface="Times New Roman" panose="02020603050405020304" pitchFamily="18" charset="0"/>
              </a:rPr>
              <a:t>: 20 GB free space </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Camera/Scanner</a:t>
            </a:r>
            <a:r>
              <a:rPr lang="en-US" sz="2000" dirty="0">
                <a:latin typeface="Times New Roman" panose="02020603050405020304" pitchFamily="18" charset="0"/>
                <a:cs typeface="Times New Roman" panose="02020603050405020304" pitchFamily="18" charset="0"/>
              </a:rPr>
              <a:t>: For capturing document images </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Display</a:t>
            </a:r>
            <a:r>
              <a:rPr lang="en-US" sz="2000" dirty="0">
                <a:latin typeface="Times New Roman" panose="02020603050405020304" pitchFamily="18" charset="0"/>
                <a:cs typeface="Times New Roman" panose="02020603050405020304" pitchFamily="18" charset="0"/>
              </a:rPr>
              <a:t>: Standard monitor </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Input Devices</a:t>
            </a:r>
            <a:r>
              <a:rPr lang="en-US" sz="2000" dirty="0">
                <a:latin typeface="Times New Roman" panose="02020603050405020304" pitchFamily="18" charset="0"/>
                <a:cs typeface="Times New Roman" panose="02020603050405020304" pitchFamily="18" charset="0"/>
              </a:rPr>
              <a:t>: Keyboard and mouse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1793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902A-F32C-7EAE-01EB-4504D18B0C7B}"/>
              </a:ext>
            </a:extLst>
          </p:cNvPr>
          <p:cNvSpPr>
            <a:spLocks noGrp="1"/>
          </p:cNvSpPr>
          <p:nvPr>
            <p:ph type="title"/>
          </p:nvPr>
        </p:nvSpPr>
        <p:spPr>
          <a:xfrm>
            <a:off x="609600" y="274638"/>
            <a:ext cx="10160000" cy="782637"/>
          </a:xfrm>
        </p:spPr>
        <p:txBody>
          <a:bodyPr/>
          <a:lstStyle/>
          <a:p>
            <a:r>
              <a:rPr lang="en-US" sz="2800" b="1"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458053BB-E547-FFB1-BAC2-AB09FEAC848B}"/>
              </a:ext>
            </a:extLst>
          </p:cNvPr>
          <p:cNvSpPr>
            <a:spLocks noGrp="1"/>
          </p:cNvSpPr>
          <p:nvPr>
            <p:ph idx="1"/>
          </p:nvPr>
        </p:nvSpPr>
        <p:spPr>
          <a:xfrm>
            <a:off x="609600" y="1057275"/>
            <a:ext cx="10160000" cy="5343525"/>
          </a:xfrm>
        </p:spPr>
        <p:txBody>
          <a:bodyPr>
            <a:normAutofit fontScale="85000" lnSpcReduction="20000"/>
          </a:bodyPr>
          <a:lstStyle/>
          <a:p>
            <a:pPr marL="114300" indent="0" algn="just">
              <a:buNone/>
            </a:pPr>
            <a:r>
              <a:rPr lang="en-US" b="1" dirty="0">
                <a:latin typeface="Times New Roman" panose="02020603050405020304" pitchFamily="18" charset="0"/>
                <a:cs typeface="Times New Roman" panose="02020603050405020304" pitchFamily="18" charset="0"/>
              </a:rPr>
              <a:t>Document Collection Module </a:t>
            </a:r>
          </a:p>
          <a:p>
            <a:pPr marL="114300" indent="0" algn="just">
              <a:buNone/>
            </a:pPr>
            <a:r>
              <a:rPr lang="en-US" dirty="0">
                <a:latin typeface="Times New Roman" panose="02020603050405020304" pitchFamily="18" charset="0"/>
                <a:cs typeface="Times New Roman" panose="02020603050405020304" pitchFamily="18" charset="0"/>
              </a:rPr>
              <a:t>This module is responsible for discovering and collecting scanned documents from user specified folders. It continuously scans directories to identify files such as Aadhaar cards, PAN cards, certificates, invoices, and identity proofs in formats like JPG, PNG, and PDF. The module also detects newly added or modified files for further processing.</a:t>
            </a:r>
          </a:p>
          <a:p>
            <a:pPr marL="114300" indent="0" algn="just">
              <a:buNone/>
            </a:pPr>
            <a:endParaRPr lang="en-US" dirty="0">
              <a:latin typeface="Times New Roman" panose="02020603050405020304" pitchFamily="18" charset="0"/>
              <a:cs typeface="Times New Roman" panose="02020603050405020304" pitchFamily="18" charset="0"/>
            </a:endParaRPr>
          </a:p>
          <a:p>
            <a:pPr marL="114300" indent="0" algn="just">
              <a:buNone/>
            </a:pPr>
            <a:r>
              <a:rPr lang="en-IN" b="1" dirty="0">
                <a:latin typeface="Times New Roman" panose="02020603050405020304" pitchFamily="18" charset="0"/>
                <a:cs typeface="Times New Roman" panose="02020603050405020304" pitchFamily="18" charset="0"/>
              </a:rPr>
              <a:t>Image Feature Extraction Module</a:t>
            </a:r>
          </a:p>
          <a:p>
            <a:pPr marL="114300" indent="0" algn="just">
              <a:buNone/>
            </a:pPr>
            <a:r>
              <a:rPr lang="en-US" dirty="0">
                <a:latin typeface="Times New Roman" panose="02020603050405020304" pitchFamily="18" charset="0"/>
                <a:cs typeface="Times New Roman" panose="02020603050405020304" pitchFamily="18" charset="0"/>
              </a:rPr>
              <a:t>This module extracts visual features from each document using the ORB (Oriented FAST and Rotated BRIEF) algorithm through OpenCV. The extracted features act as a unique fingerprint for every document and are stored in the SQLite database for similarity comparison.</a:t>
            </a:r>
          </a:p>
          <a:p>
            <a:pPr marL="114300" indent="0" algn="just">
              <a:buNone/>
            </a:pPr>
            <a:endParaRPr lang="en-IN" dirty="0">
              <a:latin typeface="Times New Roman" panose="02020603050405020304" pitchFamily="18" charset="0"/>
              <a:cs typeface="Times New Roman" panose="02020603050405020304" pitchFamily="18" charset="0"/>
            </a:endParaRPr>
          </a:p>
          <a:p>
            <a:pPr marL="114300" indent="0" algn="just">
              <a:buNone/>
            </a:pPr>
            <a:r>
              <a:rPr lang="en-IN" b="1" dirty="0">
                <a:latin typeface="Times New Roman" panose="02020603050405020304" pitchFamily="18" charset="0"/>
                <a:cs typeface="Times New Roman" panose="02020603050405020304" pitchFamily="18" charset="0"/>
              </a:rPr>
              <a:t>OCR Text Extraction Module</a:t>
            </a:r>
          </a:p>
          <a:p>
            <a:pPr marL="114300" indent="0" algn="just">
              <a:buNone/>
            </a:pPr>
            <a:r>
              <a:rPr lang="en-US" dirty="0">
                <a:latin typeface="Times New Roman" panose="02020603050405020304" pitchFamily="18" charset="0"/>
                <a:cs typeface="Times New Roman" panose="02020603050405020304" pitchFamily="18" charset="0"/>
              </a:rPr>
              <a:t>Tesseract OCR is applied to extract embedded textual content from scanned images and PDFs. The module performs preprocessing such as noise removal, resizing, and orientation correction before text extraction</a:t>
            </a:r>
          </a:p>
          <a:p>
            <a:pPr marL="114300" indent="0" algn="just">
              <a:buNone/>
            </a:pPr>
            <a:endParaRPr lang="en-IN" dirty="0">
              <a:latin typeface="Times New Roman" panose="02020603050405020304" pitchFamily="18" charset="0"/>
              <a:cs typeface="Times New Roman" panose="02020603050405020304" pitchFamily="18" charset="0"/>
            </a:endParaRPr>
          </a:p>
          <a:p>
            <a:pPr marL="114300" indent="0" algn="just">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LLM Document Analysis Module</a:t>
            </a:r>
          </a:p>
          <a:p>
            <a:pPr marL="114300" indent="0" algn="just">
              <a:buNone/>
            </a:pPr>
            <a:r>
              <a:rPr lang="en-US" dirty="0">
                <a:latin typeface="Times New Roman" panose="02020603050405020304" pitchFamily="18" charset="0"/>
                <a:cs typeface="Times New Roman" panose="02020603050405020304" pitchFamily="18" charset="0"/>
              </a:rPr>
              <a:t>The extracted text is processed using a Local Large Language Model to generate: • Document type identification • Semantic labels • Short summaries • Important keywords and metadata</a:t>
            </a:r>
          </a:p>
        </p:txBody>
      </p:sp>
    </p:spTree>
    <p:extLst>
      <p:ext uri="{BB962C8B-B14F-4D97-AF65-F5344CB8AC3E}">
        <p14:creationId xmlns:p14="http://schemas.microsoft.com/office/powerpoint/2010/main" val="1857028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34849-FEAD-2A3B-4B02-97B0C5A18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0EBA1-B700-C575-D5F2-52422A759988}"/>
              </a:ext>
            </a:extLst>
          </p:cNvPr>
          <p:cNvSpPr>
            <a:spLocks noGrp="1"/>
          </p:cNvSpPr>
          <p:nvPr>
            <p:ph type="title"/>
          </p:nvPr>
        </p:nvSpPr>
        <p:spPr>
          <a:xfrm>
            <a:off x="609600" y="274638"/>
            <a:ext cx="10160000" cy="782637"/>
          </a:xfrm>
        </p:spPr>
        <p:txBody>
          <a:bodyPr/>
          <a:lstStyle/>
          <a:p>
            <a:r>
              <a:rPr lang="en-US" sz="2800" b="1"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DB43C472-C912-6683-020D-1EC47987A785}"/>
              </a:ext>
            </a:extLst>
          </p:cNvPr>
          <p:cNvSpPr>
            <a:spLocks noGrp="1"/>
          </p:cNvSpPr>
          <p:nvPr>
            <p:ph idx="1"/>
          </p:nvPr>
        </p:nvSpPr>
        <p:spPr>
          <a:xfrm>
            <a:off x="609600" y="1057275"/>
            <a:ext cx="10160000" cy="5343525"/>
          </a:xfrm>
        </p:spPr>
        <p:txBody>
          <a:bodyPr>
            <a:normAutofit fontScale="92500" lnSpcReduction="10000"/>
          </a:bodyPr>
          <a:lstStyle/>
          <a:p>
            <a:pPr marL="114300" indent="0" algn="just">
              <a:buNone/>
            </a:pPr>
            <a:r>
              <a:rPr lang="en-IN" b="1" dirty="0">
                <a:latin typeface="Times New Roman" panose="02020603050405020304" pitchFamily="18" charset="0"/>
                <a:cs typeface="Times New Roman" panose="02020603050405020304" pitchFamily="18" charset="0"/>
              </a:rPr>
              <a:t>Database Management Module</a:t>
            </a:r>
          </a:p>
          <a:p>
            <a:pPr marL="114300" indent="0" algn="just">
              <a:buNone/>
            </a:pPr>
            <a:r>
              <a:rPr lang="en-US" dirty="0">
                <a:latin typeface="Times New Roman" panose="02020603050405020304" pitchFamily="18" charset="0"/>
                <a:cs typeface="Times New Roman" panose="02020603050405020304" pitchFamily="18" charset="0"/>
              </a:rPr>
              <a:t>Functionality This module stores and manages: • ORB feature vectors • OCR extracted text </a:t>
            </a:r>
          </a:p>
          <a:p>
            <a:pPr marL="114300" indent="0" algn="just">
              <a:buNone/>
            </a:pPr>
            <a:r>
              <a:rPr lang="en-US" dirty="0">
                <a:latin typeface="Times New Roman" panose="02020603050405020304" pitchFamily="18" charset="0"/>
                <a:cs typeface="Times New Roman" panose="02020603050405020304" pitchFamily="18" charset="0"/>
              </a:rPr>
              <a:t>• Generated metadata and summaries • Document file locations using SQLite database tables.</a:t>
            </a:r>
          </a:p>
          <a:p>
            <a:pPr marL="114300" indent="0" algn="just">
              <a:buNone/>
            </a:pPr>
            <a:endParaRPr lang="en-US" dirty="0">
              <a:latin typeface="Times New Roman" panose="02020603050405020304" pitchFamily="18" charset="0"/>
              <a:cs typeface="Times New Roman" panose="02020603050405020304" pitchFamily="18" charset="0"/>
            </a:endParaRPr>
          </a:p>
          <a:p>
            <a:pPr marL="114300" indent="0" algn="just">
              <a:buNone/>
            </a:pPr>
            <a:r>
              <a:rPr lang="en-US" b="1" dirty="0">
                <a:latin typeface="Times New Roman" panose="02020603050405020304" pitchFamily="18" charset="0"/>
                <a:cs typeface="Times New Roman" panose="02020603050405020304" pitchFamily="18" charset="0"/>
              </a:rPr>
              <a:t>Search &amp; Similarity Matching Module</a:t>
            </a:r>
          </a:p>
          <a:p>
            <a:pPr marL="114300" indent="0" algn="just">
              <a:buNone/>
            </a:pPr>
            <a:r>
              <a:rPr lang="en-US" dirty="0">
                <a:latin typeface="Times New Roman" panose="02020603050405020304" pitchFamily="18" charset="0"/>
                <a:cs typeface="Times New Roman" panose="02020603050405020304" pitchFamily="18" charset="0"/>
              </a:rPr>
              <a:t>When a user uploads a query image through JavaFX interface, this module extracts its features and compares them with stored features using similarity matching algorithms. Top matching documents are retrieved along with metadata.</a:t>
            </a:r>
          </a:p>
          <a:p>
            <a:pPr marL="114300" indent="0" algn="just">
              <a:buNone/>
            </a:pPr>
            <a:endParaRPr lang="en-IN" dirty="0">
              <a:latin typeface="Times New Roman" panose="02020603050405020304" pitchFamily="18" charset="0"/>
              <a:cs typeface="Times New Roman" panose="02020603050405020304" pitchFamily="18" charset="0"/>
            </a:endParaRPr>
          </a:p>
          <a:p>
            <a:pPr marL="114300" indent="0" algn="just">
              <a:buNone/>
            </a:pPr>
            <a:r>
              <a:rPr lang="en-IN" b="1" dirty="0">
                <a:latin typeface="Times New Roman" panose="02020603050405020304" pitchFamily="18" charset="0"/>
                <a:cs typeface="Times New Roman" panose="02020603050405020304" pitchFamily="18" charset="0"/>
              </a:rPr>
              <a:t>Real-Time Monitoring Module</a:t>
            </a:r>
            <a:endParaRPr lang="en-US" b="1" dirty="0">
              <a:latin typeface="Times New Roman" panose="02020603050405020304" pitchFamily="18" charset="0"/>
              <a:cs typeface="Times New Roman" panose="02020603050405020304" pitchFamily="18" charset="0"/>
            </a:endParaRPr>
          </a:p>
          <a:p>
            <a:pPr marL="114300" indent="0" algn="just">
              <a:buNone/>
            </a:pPr>
            <a:r>
              <a:rPr lang="en-US" dirty="0">
                <a:latin typeface="Times New Roman" panose="02020603050405020304" pitchFamily="18" charset="0"/>
                <a:cs typeface="Times New Roman" panose="02020603050405020304" pitchFamily="18" charset="0"/>
              </a:rPr>
              <a:t>Monitors selected folders for file changes such as: • New document addition • Modification of existing files • Deletion events and triggers automatic re-indexing when required</a:t>
            </a:r>
          </a:p>
          <a:p>
            <a:pPr marL="114300" indent="0" algn="just">
              <a:buNone/>
            </a:pPr>
            <a:endParaRPr lang="en-IN" dirty="0">
              <a:latin typeface="Times New Roman" panose="02020603050405020304" pitchFamily="18" charset="0"/>
              <a:cs typeface="Times New Roman" panose="02020603050405020304" pitchFamily="18" charset="0"/>
            </a:endParaRPr>
          </a:p>
          <a:p>
            <a:pPr marL="114300" indent="0" algn="just">
              <a:buNone/>
            </a:pPr>
            <a:r>
              <a:rPr lang="en-IN" b="1" dirty="0">
                <a:latin typeface="Times New Roman" panose="02020603050405020304" pitchFamily="18" charset="0"/>
                <a:cs typeface="Times New Roman" panose="02020603050405020304" pitchFamily="18" charset="0"/>
              </a:rPr>
              <a:t>User Interface Module </a:t>
            </a:r>
          </a:p>
          <a:p>
            <a:pPr marL="114300" indent="0" algn="just">
              <a:buNone/>
            </a:pPr>
            <a:r>
              <a:rPr lang="en-US" dirty="0">
                <a:latin typeface="Times New Roman" panose="02020603050405020304" pitchFamily="18" charset="0"/>
                <a:cs typeface="Times New Roman" panose="02020603050405020304" pitchFamily="18" charset="0"/>
              </a:rPr>
              <a:t>A JavaFX-based graphical interface allows users to: • Upload query images • View retrieved documents • See summaries and metadata • Navigate to actual file locations</a:t>
            </a:r>
          </a:p>
        </p:txBody>
      </p:sp>
    </p:spTree>
    <p:extLst>
      <p:ext uri="{BB962C8B-B14F-4D97-AF65-F5344CB8AC3E}">
        <p14:creationId xmlns:p14="http://schemas.microsoft.com/office/powerpoint/2010/main" val="3829297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F85B-E9B4-20BB-0B38-94153DE7E038}"/>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SYSTEM ARCHITECTURE:</a:t>
            </a:r>
          </a:p>
        </p:txBody>
      </p:sp>
      <p:cxnSp>
        <p:nvCxnSpPr>
          <p:cNvPr id="10" name="Straight Connector 9">
            <a:extLst>
              <a:ext uri="{FF2B5EF4-FFF2-40B4-BE49-F238E27FC236}">
                <a16:creationId xmlns:a16="http://schemas.microsoft.com/office/drawing/2014/main" id="{7083A613-EC35-91C5-AD00-FFF2741FCBFE}"/>
              </a:ext>
            </a:extLst>
          </p:cNvPr>
          <p:cNvCxnSpPr/>
          <p:nvPr/>
        </p:nvCxnSpPr>
        <p:spPr>
          <a:xfrm>
            <a:off x="2516505" y="3609975"/>
            <a:ext cx="40005"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DC8EAFB7-C041-F985-C866-13CE45881F2B}"/>
              </a:ext>
            </a:extLst>
          </p:cNvPr>
          <p:cNvCxnSpPr/>
          <p:nvPr/>
        </p:nvCxnSpPr>
        <p:spPr>
          <a:xfrm>
            <a:off x="2539365" y="3585210"/>
            <a:ext cx="17145" cy="0"/>
          </a:xfrm>
          <a:prstGeom prst="line">
            <a:avLst/>
          </a:prstGeom>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C581E6CB-BFC9-A1CD-9497-188C4A2C4C2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2155" y="1781175"/>
            <a:ext cx="8043340" cy="4432812"/>
          </a:xfrm>
          <a:prstGeom prst="rect">
            <a:avLst/>
          </a:prstGeom>
          <a:noFill/>
          <a:ln>
            <a:noFill/>
          </a:ln>
        </p:spPr>
      </p:pic>
    </p:spTree>
    <p:extLst>
      <p:ext uri="{BB962C8B-B14F-4D97-AF65-F5344CB8AC3E}">
        <p14:creationId xmlns:p14="http://schemas.microsoft.com/office/powerpoint/2010/main" val="3302072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C4093-454D-63CC-69AC-F7B7D24B7F86}"/>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USECASE DIAGRAM:</a:t>
            </a:r>
          </a:p>
        </p:txBody>
      </p:sp>
      <p:pic>
        <p:nvPicPr>
          <p:cNvPr id="8" name="Picture 7">
            <a:extLst>
              <a:ext uri="{FF2B5EF4-FFF2-40B4-BE49-F238E27FC236}">
                <a16:creationId xmlns:a16="http://schemas.microsoft.com/office/drawing/2014/main" id="{5FDF5782-AC68-9422-C684-2327CB16782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3033" y="1253540"/>
            <a:ext cx="9062780" cy="5585542"/>
          </a:xfrm>
          <a:prstGeom prst="rect">
            <a:avLst/>
          </a:prstGeom>
          <a:noFill/>
          <a:ln>
            <a:noFill/>
          </a:ln>
        </p:spPr>
      </p:pic>
    </p:spTree>
    <p:extLst>
      <p:ext uri="{BB962C8B-B14F-4D97-AF65-F5344CB8AC3E}">
        <p14:creationId xmlns:p14="http://schemas.microsoft.com/office/powerpoint/2010/main" val="2854636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E016B1-5701-2015-B1E0-D27DA1E6A63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181" y="737420"/>
            <a:ext cx="10789967" cy="6099102"/>
          </a:xfrm>
          <a:prstGeom prst="rect">
            <a:avLst/>
          </a:prstGeom>
          <a:noFill/>
          <a:ln>
            <a:noFill/>
          </a:ln>
        </p:spPr>
      </p:pic>
      <p:sp>
        <p:nvSpPr>
          <p:cNvPr id="2" name="Title 1">
            <a:extLst>
              <a:ext uri="{FF2B5EF4-FFF2-40B4-BE49-F238E27FC236}">
                <a16:creationId xmlns:a16="http://schemas.microsoft.com/office/drawing/2014/main" id="{C1C9DC8C-51C7-EE02-5985-3442F94F995C}"/>
              </a:ext>
            </a:extLst>
          </p:cNvPr>
          <p:cNvSpPr>
            <a:spLocks noGrp="1"/>
          </p:cNvSpPr>
          <p:nvPr>
            <p:ph type="title"/>
          </p:nvPr>
        </p:nvSpPr>
        <p:spPr>
          <a:xfrm>
            <a:off x="0" y="0"/>
            <a:ext cx="10160000" cy="1143000"/>
          </a:xfrm>
        </p:spPr>
        <p:txBody>
          <a:bodyPr/>
          <a:lstStyle/>
          <a:p>
            <a:r>
              <a:rPr lang="en-IN" sz="2800" b="1" dirty="0">
                <a:latin typeface="Times New Roman" panose="02020603050405020304" pitchFamily="18" charset="0"/>
                <a:cs typeface="Times New Roman" panose="02020603050405020304" pitchFamily="18" charset="0"/>
              </a:rPr>
              <a:t>CLASS DIAGRAM</a:t>
            </a:r>
          </a:p>
        </p:txBody>
      </p:sp>
    </p:spTree>
    <p:extLst>
      <p:ext uri="{BB962C8B-B14F-4D97-AF65-F5344CB8AC3E}">
        <p14:creationId xmlns:p14="http://schemas.microsoft.com/office/powerpoint/2010/main" val="2014179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787C8-F15A-00E9-1838-24285D237340}"/>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SEQUENCE DIAGRAM:</a:t>
            </a:r>
          </a:p>
        </p:txBody>
      </p:sp>
      <p:pic>
        <p:nvPicPr>
          <p:cNvPr id="5" name="Picture 4">
            <a:extLst>
              <a:ext uri="{FF2B5EF4-FFF2-40B4-BE49-F238E27FC236}">
                <a16:creationId xmlns:a16="http://schemas.microsoft.com/office/drawing/2014/main" id="{89B8884F-0303-1147-5161-08ACEF393E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599" y="1385376"/>
            <a:ext cx="10019071" cy="5320224"/>
          </a:xfrm>
          <a:prstGeom prst="rect">
            <a:avLst/>
          </a:prstGeom>
          <a:noFill/>
          <a:ln>
            <a:noFill/>
          </a:ln>
        </p:spPr>
      </p:pic>
    </p:spTree>
    <p:extLst>
      <p:ext uri="{BB962C8B-B14F-4D97-AF65-F5344CB8AC3E}">
        <p14:creationId xmlns:p14="http://schemas.microsoft.com/office/powerpoint/2010/main" val="25314198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0D84A-886F-8F9A-21CF-90E4EC9067D8}"/>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ACTIVITY DIAGRAM:</a:t>
            </a:r>
          </a:p>
        </p:txBody>
      </p:sp>
      <p:pic>
        <p:nvPicPr>
          <p:cNvPr id="5" name="Picture 4">
            <a:extLst>
              <a:ext uri="{FF2B5EF4-FFF2-40B4-BE49-F238E27FC236}">
                <a16:creationId xmlns:a16="http://schemas.microsoft.com/office/drawing/2014/main" id="{7D242541-70FD-08A9-CA09-63149FFF2BEC}"/>
              </a:ext>
            </a:extLst>
          </p:cNvPr>
          <p:cNvPicPr>
            <a:picLocks noChangeAspect="1"/>
          </p:cNvPicPr>
          <p:nvPr/>
        </p:nvPicPr>
        <p:blipFill rotWithShape="1">
          <a:blip r:embed="rId2">
            <a:extLst>
              <a:ext uri="{28A0092B-C50C-407E-A947-70E740481C1C}">
                <a14:useLocalDpi xmlns:a14="http://schemas.microsoft.com/office/drawing/2010/main" val="0"/>
              </a:ext>
            </a:extLst>
          </a:blip>
          <a:srcRect t="4368"/>
          <a:stretch>
            <a:fillRect/>
          </a:stretch>
        </p:blipFill>
        <p:spPr bwMode="auto">
          <a:xfrm>
            <a:off x="5132439" y="321341"/>
            <a:ext cx="5211097" cy="61679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84455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48434-A8B3-DD69-E5D0-6538E733F4FA}"/>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COMPONENT DIAGRAM:</a:t>
            </a:r>
          </a:p>
        </p:txBody>
      </p:sp>
      <p:pic>
        <p:nvPicPr>
          <p:cNvPr id="6" name="Picture 5">
            <a:extLst>
              <a:ext uri="{FF2B5EF4-FFF2-40B4-BE49-F238E27FC236}">
                <a16:creationId xmlns:a16="http://schemas.microsoft.com/office/drawing/2014/main" id="{8A2BE761-D137-302E-C003-B5C0AC64D5B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0206" y="1369028"/>
            <a:ext cx="8917859" cy="5083676"/>
          </a:xfrm>
          <a:prstGeom prst="rect">
            <a:avLst/>
          </a:prstGeom>
          <a:noFill/>
          <a:ln>
            <a:noFill/>
          </a:ln>
        </p:spPr>
      </p:pic>
    </p:spTree>
    <p:extLst>
      <p:ext uri="{BB962C8B-B14F-4D97-AF65-F5344CB8AC3E}">
        <p14:creationId xmlns:p14="http://schemas.microsoft.com/office/powerpoint/2010/main" val="550355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571AE-8766-2E0A-B437-A69AB2130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9AD5D-B90A-BD6A-40E5-17A929A4B2FB}"/>
              </a:ext>
            </a:extLst>
          </p:cNvPr>
          <p:cNvSpPr>
            <a:spLocks noGrp="1"/>
          </p:cNvSpPr>
          <p:nvPr>
            <p:ph type="title"/>
          </p:nvPr>
        </p:nvSpPr>
        <p:spPr>
          <a:xfrm>
            <a:off x="677334" y="609600"/>
            <a:ext cx="8596668" cy="514627"/>
          </a:xfrm>
        </p:spPr>
        <p:txBody>
          <a:bodyPr>
            <a:noAutofit/>
          </a:bodyPr>
          <a:lstStyle/>
          <a:p>
            <a:pPr marL="571500" indent="-571500">
              <a:buFont typeface="Wingdings"/>
              <a:buChar char="Ø"/>
            </a:pPr>
            <a:r>
              <a:rPr lang="en-IN" sz="2800" b="1" dirty="0">
                <a:latin typeface="Times New Roman" pitchFamily="18" charset="0"/>
                <a:cs typeface="Times New Roman" pitchFamily="18" charset="0"/>
              </a:rPr>
              <a:t>System Implementation</a:t>
            </a:r>
            <a:endParaRPr lang="en-US"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3E5D12A-07A7-857D-DE9C-020D7563363A}"/>
              </a:ext>
            </a:extLst>
          </p:cNvPr>
          <p:cNvSpPr>
            <a:spLocks noGrp="1"/>
          </p:cNvSpPr>
          <p:nvPr>
            <p:ph idx="1"/>
          </p:nvPr>
        </p:nvSpPr>
        <p:spPr>
          <a:xfrm>
            <a:off x="342900" y="1243981"/>
            <a:ext cx="10820400" cy="5183902"/>
          </a:xfrm>
        </p:spPr>
        <p:txBody>
          <a:bodyPr vert="horz" lIns="91440" tIns="45720" rIns="91440" bIns="45720" rtlCol="0" anchor="t">
            <a:normAutofit/>
          </a:bodyPr>
          <a:lstStyle/>
          <a:p>
            <a:pPr algn="just">
              <a:lnSpc>
                <a:spcPct val="150000"/>
              </a:lnSpc>
              <a:buFont typeface="Wingdings" charset="2"/>
              <a:buChar char="ü"/>
            </a:pPr>
            <a:r>
              <a:rPr lang="en-US" sz="2000" dirty="0"/>
              <a:t>Developed as a </a:t>
            </a:r>
            <a:r>
              <a:rPr lang="en-US" sz="2000" b="1" dirty="0"/>
              <a:t>desktop-based offline document retrieval system</a:t>
            </a:r>
            <a:r>
              <a:rPr lang="en-US" sz="2000" dirty="0"/>
              <a:t> using Java &amp; JavaFX</a:t>
            </a:r>
            <a:r>
              <a:rPr lang="en-US" sz="2000" dirty="0">
                <a:solidFill>
                  <a:schemeClr val="tx2"/>
                </a:solidFill>
                <a:latin typeface="Times New Roman" panose="02020603050405020304" pitchFamily="18" charset="0"/>
                <a:cs typeface="Times New Roman" panose="02020603050405020304" pitchFamily="18" charset="0"/>
              </a:rPr>
              <a:t>.</a:t>
            </a:r>
          </a:p>
          <a:p>
            <a:pPr algn="just">
              <a:lnSpc>
                <a:spcPct val="150000"/>
              </a:lnSpc>
              <a:buFont typeface="Wingdings" charset="2"/>
              <a:buChar char="ü"/>
            </a:pPr>
            <a:r>
              <a:rPr lang="en-US" sz="2000" dirty="0"/>
              <a:t>Implemented </a:t>
            </a:r>
            <a:r>
              <a:rPr lang="en-US" sz="2000" b="1" dirty="0"/>
              <a:t>document indexing</a:t>
            </a:r>
            <a:r>
              <a:rPr lang="en-US" sz="2000" dirty="0"/>
              <a:t> by scanning selected folders and storing image metadata</a:t>
            </a:r>
          </a:p>
          <a:p>
            <a:pPr algn="just">
              <a:lnSpc>
                <a:spcPct val="150000"/>
              </a:lnSpc>
              <a:buFont typeface="Wingdings" charset="2"/>
              <a:buChar char="ü"/>
            </a:pPr>
            <a:r>
              <a:rPr lang="en-US" sz="2000" dirty="0"/>
              <a:t>Used </a:t>
            </a:r>
            <a:r>
              <a:rPr lang="en-US" sz="2000" b="1" dirty="0"/>
              <a:t>ORB (OpenCV)</a:t>
            </a:r>
            <a:r>
              <a:rPr lang="en-US" sz="2000" dirty="0"/>
              <a:t> for extracting visual features from document images</a:t>
            </a:r>
          </a:p>
          <a:p>
            <a:pPr algn="just">
              <a:lnSpc>
                <a:spcPct val="150000"/>
              </a:lnSpc>
              <a:buFont typeface="Wingdings" charset="2"/>
              <a:buChar char="ü"/>
            </a:pPr>
            <a:r>
              <a:rPr lang="en-US" sz="2000" dirty="0"/>
              <a:t>Integrated </a:t>
            </a:r>
            <a:r>
              <a:rPr lang="en-US" sz="2000" b="1" dirty="0"/>
              <a:t>OCR (Tesseract)</a:t>
            </a:r>
            <a:r>
              <a:rPr lang="en-US" sz="2000" dirty="0"/>
              <a:t> for text extraction to improve search accuracy</a:t>
            </a:r>
          </a:p>
          <a:p>
            <a:pPr algn="just">
              <a:lnSpc>
                <a:spcPct val="150000"/>
              </a:lnSpc>
              <a:buFont typeface="Wingdings" charset="2"/>
              <a:buChar char="ü"/>
            </a:pPr>
            <a:r>
              <a:rPr lang="en-US" sz="2000" dirty="0"/>
              <a:t>Applied </a:t>
            </a:r>
            <a:r>
              <a:rPr lang="en-US" sz="2000" b="1" dirty="0"/>
              <a:t>hybrid similarity matching</a:t>
            </a:r>
            <a:r>
              <a:rPr lang="en-US" sz="2000" dirty="0"/>
              <a:t> (visual features + OCR text) for better results</a:t>
            </a:r>
          </a:p>
          <a:p>
            <a:pPr algn="just">
              <a:lnSpc>
                <a:spcPct val="150000"/>
              </a:lnSpc>
              <a:buFont typeface="Wingdings" charset="2"/>
              <a:buChar char="ü"/>
            </a:pPr>
            <a:r>
              <a:rPr lang="en-US" sz="2000" dirty="0"/>
              <a:t>Implemented </a:t>
            </a:r>
            <a:r>
              <a:rPr lang="en-US" sz="2000" b="1" dirty="0"/>
              <a:t>SHA-256 hashing</a:t>
            </a:r>
            <a:r>
              <a:rPr lang="en-US" sz="2000" dirty="0"/>
              <a:t> to detect and avoid duplicate documents</a:t>
            </a:r>
          </a:p>
          <a:p>
            <a:pPr algn="just">
              <a:lnSpc>
                <a:spcPct val="150000"/>
              </a:lnSpc>
              <a:buFont typeface="Wingdings" charset="2"/>
              <a:buChar char="ü"/>
            </a:pPr>
            <a:r>
              <a:rPr lang="en-US" sz="2000" dirty="0"/>
              <a:t>Added </a:t>
            </a:r>
            <a:r>
              <a:rPr lang="en-US" sz="2000" b="1" dirty="0" err="1"/>
              <a:t>aHash</a:t>
            </a:r>
            <a:r>
              <a:rPr lang="en-US" sz="2000" b="1" dirty="0"/>
              <a:t> fallback mechanism</a:t>
            </a:r>
            <a:r>
              <a:rPr lang="en-US" sz="2000" dirty="0"/>
              <a:t> for matching when feature detection is weak</a:t>
            </a:r>
          </a:p>
          <a:p>
            <a:pPr algn="just">
              <a:lnSpc>
                <a:spcPct val="150000"/>
              </a:lnSpc>
              <a:buFont typeface="Wingdings" charset="2"/>
              <a:buChar char="ü"/>
            </a:pPr>
            <a:r>
              <a:rPr lang="en-US" sz="2000" dirty="0"/>
              <a:t>Designed a </a:t>
            </a:r>
            <a:r>
              <a:rPr lang="en-US" sz="2000" b="1" dirty="0"/>
              <a:t>two-panel UI</a:t>
            </a:r>
            <a:r>
              <a:rPr lang="en-US" sz="2000" dirty="0"/>
              <a:t> for indexing (left) and result display (right)</a:t>
            </a:r>
          </a:p>
          <a:p>
            <a:pPr algn="just">
              <a:lnSpc>
                <a:spcPct val="150000"/>
              </a:lnSpc>
              <a:buFont typeface="Wingdings" charset="2"/>
              <a:buChar char="ü"/>
            </a:pPr>
            <a:r>
              <a:rPr lang="en-US" sz="2000" dirty="0"/>
              <a:t>Displays </a:t>
            </a:r>
            <a:r>
              <a:rPr lang="en-US" sz="2000" b="1" dirty="0"/>
              <a:t>similarity score, document preview, and file path</a:t>
            </a:r>
            <a:r>
              <a:rPr lang="en-US" sz="2000" dirty="0"/>
              <a:t> for verification</a:t>
            </a:r>
            <a:endParaRPr lang="en-IN" sz="2000" dirty="0">
              <a:solidFill>
                <a:schemeClr val="tx2"/>
              </a:solidFill>
              <a:latin typeface="Times New Roman" panose="02020603050405020304" pitchFamily="18" charset="0"/>
              <a:ea typeface="+mn-lt"/>
              <a:cs typeface="Times New Roman" panose="02020603050405020304" pitchFamily="18" charset="0"/>
            </a:endParaRPr>
          </a:p>
        </p:txBody>
      </p:sp>
    </p:spTree>
    <p:extLst>
      <p:ext uri="{BB962C8B-B14F-4D97-AF65-F5344CB8AC3E}">
        <p14:creationId xmlns:p14="http://schemas.microsoft.com/office/powerpoint/2010/main" val="3520538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FE51A-8C1D-5F04-6164-53A884BE4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C50FB-AB99-4076-1606-853C46BA73C6}"/>
              </a:ext>
            </a:extLst>
          </p:cNvPr>
          <p:cNvSpPr>
            <a:spLocks noGrp="1"/>
          </p:cNvSpPr>
          <p:nvPr>
            <p:ph type="title"/>
          </p:nvPr>
        </p:nvSpPr>
        <p:spPr>
          <a:xfrm>
            <a:off x="677334" y="609600"/>
            <a:ext cx="8596668" cy="514627"/>
          </a:xfrm>
        </p:spPr>
        <p:txBody>
          <a:bodyPr>
            <a:noAutofit/>
          </a:bodyPr>
          <a:lstStyle/>
          <a:p>
            <a:pPr marL="571500" indent="-571500">
              <a:buFont typeface="Wingdings"/>
              <a:buChar char="Ø"/>
            </a:pPr>
            <a:r>
              <a:rPr lang="en-IN" sz="2800" dirty="0">
                <a:latin typeface="Times New Roman" pitchFamily="18" charset="0"/>
                <a:cs typeface="Times New Roman" pitchFamily="18" charset="0"/>
              </a:rPr>
              <a:t>System Testing</a:t>
            </a:r>
            <a:endParaRPr lang="en-US" sz="28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452C32E-E6E3-E3D3-FDAC-B2F9453DE579}"/>
              </a:ext>
            </a:extLst>
          </p:cNvPr>
          <p:cNvSpPr>
            <a:spLocks noGrp="1"/>
          </p:cNvSpPr>
          <p:nvPr>
            <p:ph idx="1"/>
          </p:nvPr>
        </p:nvSpPr>
        <p:spPr>
          <a:xfrm>
            <a:off x="342900" y="1243981"/>
            <a:ext cx="10820400" cy="5183902"/>
          </a:xfrm>
        </p:spPr>
        <p:txBody>
          <a:bodyPr vert="horz" lIns="91440" tIns="45720" rIns="91440" bIns="45720" rtlCol="0" anchor="t">
            <a:normAutofit/>
          </a:bodyPr>
          <a:lstStyle/>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Performed </a:t>
            </a:r>
            <a:r>
              <a:rPr lang="en-US" sz="2000" b="1" dirty="0">
                <a:latin typeface="Times New Roman" panose="02020603050405020304" pitchFamily="18" charset="0"/>
                <a:cs typeface="Times New Roman" panose="02020603050405020304" pitchFamily="18" charset="0"/>
              </a:rPr>
              <a:t>JUnit Testing</a:t>
            </a:r>
            <a:r>
              <a:rPr lang="en-US" sz="2000" dirty="0">
                <a:latin typeface="Times New Roman" panose="02020603050405020304" pitchFamily="18" charset="0"/>
                <a:cs typeface="Times New Roman" panose="02020603050405020304" pitchFamily="18" charset="0"/>
              </a:rPr>
              <a:t> to validate individual methods and core logic</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Conducted testing to evaluate </a:t>
            </a:r>
            <a:r>
              <a:rPr lang="en-US" sz="2000" b="1" dirty="0">
                <a:latin typeface="Times New Roman" panose="02020603050405020304" pitchFamily="18" charset="0"/>
                <a:cs typeface="Times New Roman" panose="02020603050405020304" pitchFamily="18" charset="0"/>
              </a:rPr>
              <a:t>accuracy, performance, and reliability</a:t>
            </a:r>
            <a:r>
              <a:rPr lang="en-US" sz="2000" dirty="0">
                <a:latin typeface="Times New Roman" panose="02020603050405020304" pitchFamily="18" charset="0"/>
                <a:cs typeface="Times New Roman" panose="02020603050405020304" pitchFamily="18" charset="0"/>
              </a:rPr>
              <a:t> of document retrieval</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Performed </a:t>
            </a:r>
            <a:r>
              <a:rPr lang="en-US" sz="2000" b="1" dirty="0">
                <a:latin typeface="Times New Roman" panose="02020603050405020304" pitchFamily="18" charset="0"/>
                <a:cs typeface="Times New Roman" panose="02020603050405020304" pitchFamily="18" charset="0"/>
              </a:rPr>
              <a:t>functional testing</a:t>
            </a:r>
            <a:r>
              <a:rPr lang="en-US" sz="2000" dirty="0">
                <a:latin typeface="Times New Roman" panose="02020603050405020304" pitchFamily="18" charset="0"/>
                <a:cs typeface="Times New Roman" panose="02020603050405020304" pitchFamily="18" charset="0"/>
              </a:rPr>
              <a:t> for indexing, search, and result display modules</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Verified retrieval using multiple document types (Aadhaar, PAN, mark memo, invoices)</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Measured </a:t>
            </a:r>
            <a:r>
              <a:rPr lang="en-US" sz="2000" b="1" dirty="0">
                <a:latin typeface="Times New Roman" panose="02020603050405020304" pitchFamily="18" charset="0"/>
                <a:cs typeface="Times New Roman" panose="02020603050405020304" pitchFamily="18" charset="0"/>
              </a:rPr>
              <a:t>similarity accuracy</a:t>
            </a:r>
            <a:r>
              <a:rPr lang="en-US" sz="2000" dirty="0">
                <a:latin typeface="Times New Roman" panose="02020603050405020304" pitchFamily="18" charset="0"/>
                <a:cs typeface="Times New Roman" panose="02020603050405020304" pitchFamily="18" charset="0"/>
              </a:rPr>
              <a:t> based on correct top-match results</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Tested </a:t>
            </a:r>
            <a:r>
              <a:rPr lang="en-US" sz="2000" b="1" dirty="0">
                <a:latin typeface="Times New Roman" panose="02020603050405020304" pitchFamily="18" charset="0"/>
                <a:cs typeface="Times New Roman" panose="02020603050405020304" pitchFamily="18" charset="0"/>
              </a:rPr>
              <a:t>OCR performance</a:t>
            </a:r>
            <a:r>
              <a:rPr lang="en-US" sz="2000" dirty="0">
                <a:latin typeface="Times New Roman" panose="02020603050405020304" pitchFamily="18" charset="0"/>
                <a:cs typeface="Times New Roman" panose="02020603050405020304" pitchFamily="18" charset="0"/>
              </a:rPr>
              <a:t> for text extraction and its impact on retrieval</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Evaluated </a:t>
            </a:r>
            <a:r>
              <a:rPr lang="en-US" sz="2000" b="1" dirty="0">
                <a:latin typeface="Times New Roman" panose="02020603050405020304" pitchFamily="18" charset="0"/>
                <a:cs typeface="Times New Roman" panose="02020603050405020304" pitchFamily="18" charset="0"/>
              </a:rPr>
              <a:t>processing time</a:t>
            </a:r>
            <a:r>
              <a:rPr lang="en-US" sz="2000" dirty="0">
                <a:latin typeface="Times New Roman" panose="02020603050405020304" pitchFamily="18" charset="0"/>
                <a:cs typeface="Times New Roman" panose="02020603050405020304" pitchFamily="18" charset="0"/>
              </a:rPr>
              <a:t> for indexing and search operations</a:t>
            </a:r>
          </a:p>
          <a:p>
            <a:pPr>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Verified </a:t>
            </a:r>
            <a:r>
              <a:rPr lang="en-US" sz="2000" b="1" dirty="0">
                <a:latin typeface="Times New Roman" panose="02020603050405020304" pitchFamily="18" charset="0"/>
                <a:cs typeface="Times New Roman" panose="02020603050405020304" pitchFamily="18" charset="0"/>
              </a:rPr>
              <a:t>similarity accuracy</a:t>
            </a:r>
            <a:r>
              <a:rPr lang="en-US" sz="2000" dirty="0">
                <a:latin typeface="Times New Roman" panose="02020603050405020304" pitchFamily="18" charset="0"/>
                <a:cs typeface="Times New Roman" panose="02020603050405020304" pitchFamily="18" charset="0"/>
              </a:rPr>
              <a:t> based on correct top-match results</a:t>
            </a:r>
          </a:p>
        </p:txBody>
      </p:sp>
    </p:spTree>
    <p:extLst>
      <p:ext uri="{BB962C8B-B14F-4D97-AF65-F5344CB8AC3E}">
        <p14:creationId xmlns:p14="http://schemas.microsoft.com/office/powerpoint/2010/main" val="3542729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B249-A62F-A74D-F959-DD8A356C6354}"/>
              </a:ext>
            </a:extLst>
          </p:cNvPr>
          <p:cNvSpPr>
            <a:spLocks noGrp="1"/>
          </p:cNvSpPr>
          <p:nvPr>
            <p:ph type="title"/>
          </p:nvPr>
        </p:nvSpPr>
        <p:spPr/>
        <p:txBody>
          <a:bodyPr/>
          <a:lstStyle/>
          <a:p>
            <a:r>
              <a:rPr lang="en-US" sz="2400" dirty="0"/>
              <a:t>Testing result</a:t>
            </a:r>
          </a:p>
        </p:txBody>
      </p:sp>
      <p:pic>
        <p:nvPicPr>
          <p:cNvPr id="4" name="Picture 3">
            <a:extLst>
              <a:ext uri="{FF2B5EF4-FFF2-40B4-BE49-F238E27FC236}">
                <a16:creationId xmlns:a16="http://schemas.microsoft.com/office/drawing/2014/main" id="{19BE6681-3355-DF59-51AC-C8CAB00D0685}"/>
              </a:ext>
            </a:extLst>
          </p:cNvPr>
          <p:cNvPicPr>
            <a:picLocks noChangeAspect="1"/>
          </p:cNvPicPr>
          <p:nvPr/>
        </p:nvPicPr>
        <p:blipFill>
          <a:blip r:embed="rId2"/>
          <a:stretch>
            <a:fillRect/>
          </a:stretch>
        </p:blipFill>
        <p:spPr>
          <a:xfrm>
            <a:off x="430005" y="1161288"/>
            <a:ext cx="9753745" cy="3886200"/>
          </a:xfrm>
          <a:prstGeom prst="rect">
            <a:avLst/>
          </a:prstGeom>
        </p:spPr>
      </p:pic>
    </p:spTree>
    <p:extLst>
      <p:ext uri="{BB962C8B-B14F-4D97-AF65-F5344CB8AC3E}">
        <p14:creationId xmlns:p14="http://schemas.microsoft.com/office/powerpoint/2010/main" val="3753548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8C3367B-9D87-C2A4-30FD-F37D04DB5FAD}"/>
              </a:ext>
            </a:extLst>
          </p:cNvPr>
          <p:cNvSpPr txBox="1"/>
          <p:nvPr/>
        </p:nvSpPr>
        <p:spPr>
          <a:xfrm>
            <a:off x="658368" y="402336"/>
            <a:ext cx="3346704" cy="523220"/>
          </a:xfrm>
          <a:prstGeom prst="rect">
            <a:avLst/>
          </a:prstGeom>
          <a:noFill/>
        </p:spPr>
        <p:txBody>
          <a:bodyPr wrap="square"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Performance testing</a:t>
            </a:r>
          </a:p>
        </p:txBody>
      </p:sp>
      <p:pic>
        <p:nvPicPr>
          <p:cNvPr id="2" name="Picture 1">
            <a:extLst>
              <a:ext uri="{FF2B5EF4-FFF2-40B4-BE49-F238E27FC236}">
                <a16:creationId xmlns:a16="http://schemas.microsoft.com/office/drawing/2014/main" id="{D25C211D-4B1E-F436-E5DB-015FBFBD63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6180" y="1470966"/>
            <a:ext cx="8603225" cy="4644698"/>
          </a:xfrm>
          <a:prstGeom prst="rect">
            <a:avLst/>
          </a:prstGeom>
          <a:noFill/>
          <a:ln>
            <a:noFill/>
          </a:ln>
        </p:spPr>
      </p:pic>
    </p:spTree>
    <p:extLst>
      <p:ext uri="{BB962C8B-B14F-4D97-AF65-F5344CB8AC3E}">
        <p14:creationId xmlns:p14="http://schemas.microsoft.com/office/powerpoint/2010/main" val="2416921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8827E-C283-A0D5-A4DC-2E2AD98D7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62122-BDE7-57A4-EA50-E15F8E5C92BE}"/>
              </a:ext>
            </a:extLst>
          </p:cNvPr>
          <p:cNvSpPr>
            <a:spLocks noGrp="1"/>
          </p:cNvSpPr>
          <p:nvPr>
            <p:ph type="title"/>
          </p:nvPr>
        </p:nvSpPr>
        <p:spPr>
          <a:xfrm>
            <a:off x="677334" y="609600"/>
            <a:ext cx="8596668" cy="514627"/>
          </a:xfrm>
        </p:spPr>
        <p:txBody>
          <a:bodyPr>
            <a:noAutofit/>
          </a:bodyPr>
          <a:lstStyle/>
          <a:p>
            <a:pPr marL="571500" indent="-571500">
              <a:buFont typeface="Wingdings"/>
              <a:buChar char="Ø"/>
            </a:pPr>
            <a:r>
              <a:rPr lang="en-IN" sz="2800" b="1" dirty="0">
                <a:latin typeface="Times New Roman" pitchFamily="18" charset="0"/>
                <a:cs typeface="Times New Roman" pitchFamily="18" charset="0"/>
              </a:rPr>
              <a:t>System Results</a:t>
            </a:r>
            <a:endParaRPr lang="en-US"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AFE6A08-5051-3749-A42E-A9CC4191F055}"/>
              </a:ext>
            </a:extLst>
          </p:cNvPr>
          <p:cNvSpPr>
            <a:spLocks noGrp="1"/>
          </p:cNvSpPr>
          <p:nvPr>
            <p:ph idx="1"/>
          </p:nvPr>
        </p:nvSpPr>
        <p:spPr>
          <a:xfrm>
            <a:off x="342900" y="1243981"/>
            <a:ext cx="10820400" cy="5183902"/>
          </a:xfrm>
        </p:spPr>
        <p:txBody>
          <a:bodyPr vert="horz" lIns="91440" tIns="45720" rIns="91440" bIns="45720" rtlCol="0" anchor="t">
            <a:normAutofit/>
          </a:bodyPr>
          <a:lstStyle/>
          <a:p>
            <a:pPr algn="just">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Successfully implemented a </a:t>
            </a:r>
            <a:r>
              <a:rPr lang="en-US" sz="2000" b="1" dirty="0">
                <a:latin typeface="Times New Roman" panose="02020603050405020304" pitchFamily="18" charset="0"/>
                <a:cs typeface="Times New Roman" panose="02020603050405020304" pitchFamily="18" charset="0"/>
              </a:rPr>
              <a:t>fully offline document retrieval system</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Achieved accurate results using </a:t>
            </a:r>
            <a:r>
              <a:rPr lang="en-US" altLang="en-US" sz="2000" b="1" dirty="0">
                <a:latin typeface="Times New Roman" panose="02020603050405020304" pitchFamily="18" charset="0"/>
                <a:cs typeface="Times New Roman" panose="02020603050405020304" pitchFamily="18" charset="0"/>
              </a:rPr>
              <a:t>hybrid matching (ORB + OCR)</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System correctly retrieves </a:t>
            </a:r>
            <a:r>
              <a:rPr lang="en-US" altLang="en-US" sz="2000" b="1" dirty="0">
                <a:latin typeface="Times New Roman" panose="02020603050405020304" pitchFamily="18" charset="0"/>
                <a:cs typeface="Times New Roman" panose="02020603050405020304" pitchFamily="18" charset="0"/>
              </a:rPr>
              <a:t>top-matching documents with similarity scores</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Supports multiple document types (Aadhaar, PAN, mark memos, invoices)</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Demonstrates </a:t>
            </a:r>
            <a:r>
              <a:rPr lang="en-US" altLang="en-US" sz="2000" b="1" dirty="0">
                <a:latin typeface="Times New Roman" panose="02020603050405020304" pitchFamily="18" charset="0"/>
                <a:cs typeface="Times New Roman" panose="02020603050405020304" pitchFamily="18" charset="0"/>
              </a:rPr>
              <a:t>fast retrieval time</a:t>
            </a:r>
            <a:r>
              <a:rPr lang="en-US" altLang="en-US" sz="2000" dirty="0">
                <a:latin typeface="Times New Roman" panose="02020603050405020304" pitchFamily="18" charset="0"/>
                <a:cs typeface="Times New Roman" panose="02020603050405020304" pitchFamily="18" charset="0"/>
              </a:rPr>
              <a:t> after indexing</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Ensures </a:t>
            </a:r>
            <a:r>
              <a:rPr lang="en-US" altLang="en-US" sz="2000" b="1" dirty="0">
                <a:latin typeface="Times New Roman" panose="02020603050405020304" pitchFamily="18" charset="0"/>
                <a:cs typeface="Times New Roman" panose="02020603050405020304" pitchFamily="18" charset="0"/>
              </a:rPr>
              <a:t>efficient indexing of bulk documents from folders</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Achieved reliable </a:t>
            </a:r>
            <a:r>
              <a:rPr lang="en-US" altLang="en-US" sz="2000" b="1" dirty="0">
                <a:latin typeface="Times New Roman" panose="02020603050405020304" pitchFamily="18" charset="0"/>
                <a:cs typeface="Times New Roman" panose="02020603050405020304" pitchFamily="18" charset="0"/>
              </a:rPr>
              <a:t>duplicate detection using SHA-256 hashing</a:t>
            </a: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b="1"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sz="2000" b="1" dirty="0"/>
          </a:p>
          <a:p>
            <a:pPr>
              <a:lnSpc>
                <a:spcPct val="150000"/>
              </a:lnSpc>
              <a:buFont typeface="Wingdings" charset="2"/>
              <a:buChar char="ü"/>
            </a:pPr>
            <a:endParaRPr lang="en-US" sz="2000" b="1" dirty="0"/>
          </a:p>
        </p:txBody>
      </p:sp>
    </p:spTree>
    <p:extLst>
      <p:ext uri="{BB962C8B-B14F-4D97-AF65-F5344CB8AC3E}">
        <p14:creationId xmlns:p14="http://schemas.microsoft.com/office/powerpoint/2010/main" val="2578886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0D78168-1CFC-B812-C4C8-161EC2773E48}"/>
              </a:ext>
            </a:extLst>
          </p:cNvPr>
          <p:cNvSpPr txBox="1"/>
          <p:nvPr/>
        </p:nvSpPr>
        <p:spPr>
          <a:xfrm>
            <a:off x="394520" y="313393"/>
            <a:ext cx="6098458" cy="523220"/>
          </a:xfrm>
          <a:prstGeom prst="rect">
            <a:avLst/>
          </a:prstGeom>
          <a:noFill/>
        </p:spPr>
        <p:txBody>
          <a:bodyPr wrap="square">
            <a:spAutoFit/>
          </a:bodyPr>
          <a:lstStyle/>
          <a:p>
            <a:r>
              <a:rPr lang="en-IN" sz="2800" b="1" dirty="0">
                <a:latin typeface="Times New Roman" pitchFamily="18" charset="0"/>
                <a:cs typeface="Times New Roman" pitchFamily="18" charset="0"/>
              </a:rPr>
              <a:t>System Results</a:t>
            </a:r>
            <a:endParaRPr lang="en-US" sz="2800" b="1" dirty="0"/>
          </a:p>
        </p:txBody>
      </p:sp>
      <p:pic>
        <p:nvPicPr>
          <p:cNvPr id="2" name="Picture 1">
            <a:extLst>
              <a:ext uri="{FF2B5EF4-FFF2-40B4-BE49-F238E27FC236}">
                <a16:creationId xmlns:a16="http://schemas.microsoft.com/office/drawing/2014/main" id="{D38B5C88-E481-AFE0-3045-F2535342CD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4839" y="1111046"/>
            <a:ext cx="8514735" cy="4876800"/>
          </a:xfrm>
          <a:prstGeom prst="rect">
            <a:avLst/>
          </a:prstGeom>
          <a:noFill/>
          <a:ln>
            <a:noFill/>
          </a:ln>
        </p:spPr>
      </p:pic>
    </p:spTree>
    <p:extLst>
      <p:ext uri="{BB962C8B-B14F-4D97-AF65-F5344CB8AC3E}">
        <p14:creationId xmlns:p14="http://schemas.microsoft.com/office/powerpoint/2010/main" val="1220347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5BC096-CB19-9AE0-3921-AA32A78CF1D9}"/>
              </a:ext>
            </a:extLst>
          </p:cNvPr>
          <p:cNvSpPr txBox="1"/>
          <p:nvPr/>
        </p:nvSpPr>
        <p:spPr>
          <a:xfrm>
            <a:off x="366251" y="536773"/>
            <a:ext cx="6098458" cy="523220"/>
          </a:xfrm>
          <a:prstGeom prst="rect">
            <a:avLst/>
          </a:prstGeom>
          <a:noFill/>
        </p:spPr>
        <p:txBody>
          <a:bodyPr wrap="square">
            <a:spAutoFit/>
          </a:bodyPr>
          <a:lstStyle/>
          <a:p>
            <a:r>
              <a:rPr lang="en-IN" sz="2800" b="1" dirty="0">
                <a:latin typeface="Times New Roman" pitchFamily="18" charset="0"/>
                <a:cs typeface="Times New Roman" pitchFamily="18" charset="0"/>
              </a:rPr>
              <a:t>System Results</a:t>
            </a:r>
            <a:endParaRPr lang="en-US" sz="2800" b="1" dirty="0"/>
          </a:p>
        </p:txBody>
      </p:sp>
      <p:pic>
        <p:nvPicPr>
          <p:cNvPr id="2" name="Picture 1">
            <a:extLst>
              <a:ext uri="{FF2B5EF4-FFF2-40B4-BE49-F238E27FC236}">
                <a16:creationId xmlns:a16="http://schemas.microsoft.com/office/drawing/2014/main" id="{BFDA47AE-800A-F8D8-DA93-FC9E86C048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0374" y="1297858"/>
            <a:ext cx="9124336" cy="4827639"/>
          </a:xfrm>
          <a:prstGeom prst="rect">
            <a:avLst/>
          </a:prstGeom>
          <a:noFill/>
          <a:ln>
            <a:noFill/>
          </a:ln>
        </p:spPr>
      </p:pic>
    </p:spTree>
    <p:extLst>
      <p:ext uri="{BB962C8B-B14F-4D97-AF65-F5344CB8AC3E}">
        <p14:creationId xmlns:p14="http://schemas.microsoft.com/office/powerpoint/2010/main" val="2409278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36ED-1178-9C19-7805-48A82A747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28DE1-7F6A-4587-1272-2026BEF14F66}"/>
              </a:ext>
            </a:extLst>
          </p:cNvPr>
          <p:cNvSpPr>
            <a:spLocks noGrp="1"/>
          </p:cNvSpPr>
          <p:nvPr>
            <p:ph type="title"/>
          </p:nvPr>
        </p:nvSpPr>
        <p:spPr>
          <a:xfrm>
            <a:off x="677334" y="609600"/>
            <a:ext cx="8596668" cy="514627"/>
          </a:xfrm>
        </p:spPr>
        <p:txBody>
          <a:bodyPr>
            <a:noAutofit/>
          </a:bodyPr>
          <a:lstStyle/>
          <a:p>
            <a:pPr marL="571500" indent="-571500">
              <a:buFont typeface="Wingdings"/>
              <a:buChar char="Ø"/>
            </a:pPr>
            <a:r>
              <a:rPr lang="en-IN" sz="2800" b="1" dirty="0">
                <a:latin typeface="Times New Roman" pitchFamily="18" charset="0"/>
                <a:cs typeface="Times New Roman" pitchFamily="18" charset="0"/>
              </a:rPr>
              <a:t>Conclusion</a:t>
            </a:r>
            <a:endParaRPr lang="en-US"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9D6A6D9-B80D-F9FA-ECBF-0669786A4005}"/>
              </a:ext>
            </a:extLst>
          </p:cNvPr>
          <p:cNvSpPr>
            <a:spLocks noGrp="1"/>
          </p:cNvSpPr>
          <p:nvPr>
            <p:ph idx="1"/>
          </p:nvPr>
        </p:nvSpPr>
        <p:spPr>
          <a:xfrm>
            <a:off x="694266" y="1124227"/>
            <a:ext cx="10820400" cy="5183902"/>
          </a:xfrm>
        </p:spPr>
        <p:txBody>
          <a:bodyPr vert="horz" lIns="91440" tIns="45720" rIns="91440" bIns="45720" rtlCol="0" anchor="t">
            <a:normAutofit/>
          </a:bodyPr>
          <a:lstStyle/>
          <a:p>
            <a:pPr algn="just">
              <a:lnSpc>
                <a:spcPct val="150000"/>
              </a:lnSpc>
              <a:buFont typeface="Wingdings" charset="2"/>
              <a:buChar char="ü"/>
            </a:pPr>
            <a:r>
              <a:rPr lang="en-US" sz="2000" dirty="0">
                <a:latin typeface="Times New Roman" panose="02020603050405020304" pitchFamily="18" charset="0"/>
                <a:cs typeface="Times New Roman" panose="02020603050405020304" pitchFamily="18" charset="0"/>
              </a:rPr>
              <a:t>Successfully implemented a </a:t>
            </a:r>
            <a:r>
              <a:rPr lang="en-US" sz="2000" b="1" dirty="0">
                <a:latin typeface="Times New Roman" panose="02020603050405020304" pitchFamily="18" charset="0"/>
                <a:cs typeface="Times New Roman" panose="02020603050405020304" pitchFamily="18" charset="0"/>
              </a:rPr>
              <a:t>fully offline document retrieval system</a:t>
            </a:r>
            <a:endParaRPr lang="en-US" altLang="en-US" sz="2000" dirty="0">
              <a:latin typeface="Times New Roman" panose="02020603050405020304" pitchFamily="18" charset="0"/>
              <a:cs typeface="Times New Roman" panose="02020603050405020304" pitchFamily="18" charset="0"/>
            </a:endParaRP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SmartDoc improves efficiency of image-based document management and retrieval.</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Combines OCR and image processing to convert scanned documents into searchable text</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Automatically indexes new documents for continuous availability.</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Supports similarity-based searches for more accurate results.</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User-friendly interface enables easy upload, search, and access.</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Reduces manual effort and enhances productivity in handling large document collections.</a:t>
            </a:r>
          </a:p>
          <a:p>
            <a:pPr marL="114300" indent="0">
              <a:lnSpc>
                <a:spcPct val="150000"/>
              </a:lnSpc>
              <a:buNone/>
            </a:pP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b="1"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sz="2000" b="1" dirty="0">
              <a:latin typeface="Times New Roman" panose="02020603050405020304" pitchFamily="18" charset="0"/>
              <a:cs typeface="Times New Roman" panose="02020603050405020304" pitchFamily="18" charset="0"/>
            </a:endParaRPr>
          </a:p>
          <a:p>
            <a:pPr>
              <a:lnSpc>
                <a:spcPct val="150000"/>
              </a:lnSpc>
              <a:buFont typeface="Wingdings" charset="2"/>
              <a:buChar char="ü"/>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0556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E190D-0600-515F-5E79-3B3197E4B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F4715-DD5F-573C-A477-BF546A29602A}"/>
              </a:ext>
            </a:extLst>
          </p:cNvPr>
          <p:cNvSpPr>
            <a:spLocks noGrp="1"/>
          </p:cNvSpPr>
          <p:nvPr>
            <p:ph type="title"/>
          </p:nvPr>
        </p:nvSpPr>
        <p:spPr>
          <a:xfrm>
            <a:off x="677334" y="609600"/>
            <a:ext cx="8596668" cy="514627"/>
          </a:xfrm>
        </p:spPr>
        <p:txBody>
          <a:bodyPr>
            <a:noAutofit/>
          </a:bodyPr>
          <a:lstStyle/>
          <a:p>
            <a:pPr marL="571500" indent="-571500">
              <a:buFont typeface="Wingdings"/>
              <a:buChar char="Ø"/>
            </a:pPr>
            <a:r>
              <a:rPr lang="en-IN" sz="2800" b="1" dirty="0">
                <a:latin typeface="Times New Roman" pitchFamily="18" charset="0"/>
                <a:cs typeface="Times New Roman" pitchFamily="18" charset="0"/>
              </a:rPr>
              <a:t>Future Work</a:t>
            </a:r>
            <a:endParaRPr lang="en-US"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2184B9D-B769-57BD-02D4-80E257318B37}"/>
              </a:ext>
            </a:extLst>
          </p:cNvPr>
          <p:cNvSpPr>
            <a:spLocks noGrp="1"/>
          </p:cNvSpPr>
          <p:nvPr>
            <p:ph idx="1"/>
          </p:nvPr>
        </p:nvSpPr>
        <p:spPr>
          <a:xfrm>
            <a:off x="677334" y="1356851"/>
            <a:ext cx="10451691" cy="5047141"/>
          </a:xfrm>
        </p:spPr>
        <p:txBody>
          <a:bodyPr vert="horz" lIns="91440" tIns="45720" rIns="91440" bIns="45720" rtlCol="0" anchor="t">
            <a:normAutofit/>
          </a:bodyPr>
          <a:lstStyle/>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Add multilingual OCR support for global applications.</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Enable cloud storage for remote access and scalability.</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Improve OCR accuracy with advanced image preprocessing (noise removal, enhancement).</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Develop mobile app for direct scanning and uploading.</a:t>
            </a:r>
          </a:p>
          <a:p>
            <a:pPr algn="just">
              <a:lnSpc>
                <a:spcPct val="150000"/>
              </a:lnSpc>
              <a:buFont typeface="Wingdings" charset="2"/>
              <a:buChar char="ü"/>
            </a:pPr>
            <a:r>
              <a:rPr lang="en-US" altLang="en-US" sz="2000" dirty="0">
                <a:latin typeface="Times New Roman" panose="02020603050405020304" pitchFamily="18" charset="0"/>
                <a:cs typeface="Times New Roman" panose="02020603050405020304" pitchFamily="18" charset="0"/>
              </a:rPr>
              <a:t>Implement stronger security (authentication, access control, encrypted storage).</a:t>
            </a:r>
          </a:p>
          <a:p>
            <a:pPr marL="114300" indent="0">
              <a:lnSpc>
                <a:spcPct val="150000"/>
              </a:lnSpc>
              <a:buNone/>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marL="114300" indent="0">
              <a:lnSpc>
                <a:spcPct val="150000"/>
              </a:lnSpc>
              <a:buNone/>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marL="114300" indent="0">
              <a:lnSpc>
                <a:spcPct val="150000"/>
              </a:lnSpc>
              <a:buNone/>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b="1"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altLang="en-US" sz="2000" dirty="0">
              <a:latin typeface="Arial" panose="020B0604020202020204" pitchFamily="34" charset="0"/>
            </a:endParaRPr>
          </a:p>
          <a:p>
            <a:pPr>
              <a:lnSpc>
                <a:spcPct val="150000"/>
              </a:lnSpc>
              <a:buFont typeface="Wingdings" charset="2"/>
              <a:buChar char="ü"/>
            </a:pPr>
            <a:endParaRPr lang="en-US" sz="2000" b="1" dirty="0"/>
          </a:p>
          <a:p>
            <a:pPr>
              <a:lnSpc>
                <a:spcPct val="150000"/>
              </a:lnSpc>
              <a:buFont typeface="Wingdings" charset="2"/>
              <a:buChar char="ü"/>
            </a:pPr>
            <a:endParaRPr lang="en-US" sz="2000" b="1" dirty="0"/>
          </a:p>
        </p:txBody>
      </p:sp>
    </p:spTree>
    <p:extLst>
      <p:ext uri="{BB962C8B-B14F-4D97-AF65-F5344CB8AC3E}">
        <p14:creationId xmlns:p14="http://schemas.microsoft.com/office/powerpoint/2010/main" val="3824491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950" y="2751221"/>
            <a:ext cx="8596668" cy="1320800"/>
          </a:xfrm>
        </p:spPr>
        <p:txBody>
          <a:bodyPr/>
          <a:lstStyle/>
          <a:p>
            <a:pPr algn="ctr"/>
            <a:r>
              <a:rPr lang="en-IN" dirty="0">
                <a:solidFill>
                  <a:schemeClr val="tx1"/>
                </a:solidFill>
                <a:latin typeface="Times New Roman" pitchFamily="18" charset="0"/>
                <a:cs typeface="Times New Roman" pitchFamily="18" charset="0"/>
              </a:rPr>
              <a:t>THANK YOU!</a:t>
            </a:r>
          </a:p>
        </p:txBody>
      </p:sp>
    </p:spTree>
    <p:extLst>
      <p:ext uri="{BB962C8B-B14F-4D97-AF65-F5344CB8AC3E}">
        <p14:creationId xmlns:p14="http://schemas.microsoft.com/office/powerpoint/2010/main" val="1227772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4571</TotalTime>
  <Words>2376</Words>
  <Application>Microsoft Office PowerPoint</Application>
  <PresentationFormat>Widescreen</PresentationFormat>
  <Paragraphs>267</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Cambria</vt:lpstr>
      <vt:lpstr>Times New Roman</vt:lpstr>
      <vt:lpstr>Wingdings</vt:lpstr>
      <vt:lpstr>Adjacency</vt:lpstr>
      <vt:lpstr>JAWAHARLAL NEHRU TECHNOLOGICAL UNIVERSITY KAKINADA  UNIVERSITY  COLLEGE  OF  ENGINEERING  NARASARAOPET  Department  of  Computer Science  and  Engineering</vt:lpstr>
      <vt:lpstr>CONTENTS</vt:lpstr>
      <vt:lpstr>Abstract</vt:lpstr>
      <vt:lpstr>Introduction</vt:lpstr>
      <vt:lpstr>Problem Statement</vt:lpstr>
      <vt:lpstr>Existing System</vt:lpstr>
      <vt:lpstr>Limitations of Existing System</vt:lpstr>
      <vt:lpstr>Overcoming drawbacks of Existing System</vt:lpstr>
      <vt:lpstr>Proposed System</vt:lpstr>
      <vt:lpstr>Advantages of Proposed System</vt:lpstr>
      <vt:lpstr>Dataset Description</vt:lpstr>
      <vt:lpstr>Functional Requirements</vt:lpstr>
      <vt:lpstr>Functional Requirements</vt:lpstr>
      <vt:lpstr>Non-Functional Requirements</vt:lpstr>
      <vt:lpstr>Software Requirements</vt:lpstr>
      <vt:lpstr>Hardware Requirements</vt:lpstr>
      <vt:lpstr>Modules</vt:lpstr>
      <vt:lpstr>Modules</vt:lpstr>
      <vt:lpstr>SYSTEM ARCHITECTURE:</vt:lpstr>
      <vt:lpstr>USECASE DIAGRAM:</vt:lpstr>
      <vt:lpstr>CLASS DIAGRAM</vt:lpstr>
      <vt:lpstr>SEQUENCE DIAGRAM:</vt:lpstr>
      <vt:lpstr>ACTIVITY DIAGRAM:</vt:lpstr>
      <vt:lpstr>COMPONENT DIAGRAM:</vt:lpstr>
      <vt:lpstr>System Implementation</vt:lpstr>
      <vt:lpstr>System Testing</vt:lpstr>
      <vt:lpstr>Testing result</vt:lpstr>
      <vt:lpstr>PowerPoint Presentation</vt:lpstr>
      <vt:lpstr>System Results</vt:lpstr>
      <vt:lpstr>PowerPoint Presentation</vt:lpstr>
      <vt:lpstr>PowerPoint Presentation</vt:lpstr>
      <vt:lpstr>Conclusion</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MOUNIKA AMGOTHU</dc:creator>
  <cp:lastModifiedBy>Geetha Valluri</cp:lastModifiedBy>
  <cp:revision>1335</cp:revision>
  <dcterms:created xsi:type="dcterms:W3CDTF">2025-02-21T15:23:28Z</dcterms:created>
  <dcterms:modified xsi:type="dcterms:W3CDTF">2026-04-14T15:48:11Z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2026-04-10T05:58:47Z</vt:lpwstr>
  </property>
  <property fmtid="{D5CDD505-2E9C-101B-9397-08002B2CF9AE}" pid="4" name="MSIP_Label_defa4170-0d19-0005-0004-bc88714345d2_Method">
    <vt:lpwstr>Privileged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fa079ae9-3fa3-40a6-a71a-55637ba73056</vt:lpwstr>
  </property>
  <property fmtid="{D5CDD505-2E9C-101B-9397-08002B2CF9AE}" pid="7" name="MSIP_Label_defa4170-0d19-0005-0004-bc88714345d2_ActionId">
    <vt:lpwstr>b6f45985-d97c-4976-ab4d-ffcef169b564</vt:lpwstr>
  </property>
  <property fmtid="{D5CDD505-2E9C-101B-9397-08002B2CF9AE}" pid="8" name="MSIP_Label_defa4170-0d19-0005-0004-bc88714345d2_ContentBits">
    <vt:lpwstr>0</vt:lpwstr>
  </property>
  <property fmtid="{D5CDD505-2E9C-101B-9397-08002B2CF9AE}" pid="9" name="MSIP_Label_defa4170-0d19-0005-0004-bc88714345d2_Tag">
    <vt:lpwstr>50, 0, 1, 1</vt:lpwstr>
  </property>
</Properties>
</file>